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147479442" r:id="rId2"/>
    <p:sldId id="2147479444" r:id="rId3"/>
    <p:sldId id="2145705710" r:id="rId4"/>
    <p:sldId id="2147479445" r:id="rId5"/>
    <p:sldId id="2147479446" r:id="rId6"/>
    <p:sldId id="2147479448" r:id="rId7"/>
  </p:sldIdLst>
  <p:sldSz cx="12192000" cy="6858000"/>
  <p:notesSz cx="7004050" cy="929005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96C6C8E-6BE7-F23B-437F-86441B60143F}" name="Beth Pringle" initials="BP" userId="38d4ff6801a2b0c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F9B"/>
    <a:srgbClr val="B44B74"/>
    <a:srgbClr val="8BA9CA"/>
    <a:srgbClr val="008C93"/>
    <a:srgbClr val="1A7BA4"/>
    <a:srgbClr val="B1DEF1"/>
    <a:srgbClr val="7193C2"/>
    <a:srgbClr val="DBE8FC"/>
    <a:srgbClr val="B44C74"/>
    <a:srgbClr val="E6F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83"/>
    <p:restoredTop sz="94726"/>
  </p:normalViewPr>
  <p:slideViewPr>
    <p:cSldViewPr snapToGrid="0">
      <p:cViewPr varScale="1">
        <p:scale>
          <a:sx n="116" d="100"/>
          <a:sy n="116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67341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22BF71E-A9EE-2941-AE80-F2EE132646F9}" type="datetimeFigureOut">
              <a:rPr lang="de-DE" smtClean="0"/>
              <a:t>08.10.26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1160463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4" tIns="46552" rIns="93104" bIns="46552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0405" y="4470837"/>
            <a:ext cx="5603240" cy="3657957"/>
          </a:xfrm>
          <a:prstGeom prst="rect">
            <a:avLst/>
          </a:prstGeom>
        </p:spPr>
        <p:txBody>
          <a:bodyPr vert="horz" lIns="93104" tIns="46552" rIns="93104" bIns="46552" rtlCol="0"/>
          <a:lstStyle/>
          <a:p>
            <a:pPr lvl="0"/>
            <a:r>
              <a:rPr lang="de-DE" dirty="0"/>
              <a:t>Edit master text format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67341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392D838C-1C81-B04E-9E15-4A4010C178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053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CA18E-E043-7691-F265-D62268F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566E75-9714-9C93-FA0D-4A7F58504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726B018-269F-E04C-1286-576F1CA7F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D10BAF-D8DA-65C4-955A-509D7B4BC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D838C-1C81-B04E-9E15-4A4010C178F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531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4F5CA3-0922-5BF3-9DD6-892D04B3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CFA40-D172-204D-FCAB-A1EF77FA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7F7F1F-DC92-8A30-7356-3F94456A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2FBDA6D-AC09-2ECD-931C-9D94A955BD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858001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 anchorCtr="0"/>
          <a:lstStyle>
            <a:lvl1pPr>
              <a:defRPr>
                <a:solidFill>
                  <a:srgbClr val="008C93"/>
                </a:solidFill>
              </a:defRPr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333659-9B83-8919-8BC6-C71E0B815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AECC56-DD90-95C9-5D0B-A4C458DDD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8C9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1529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33659-9B83-8919-8BC6-C71E0B815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AECC56-DD90-95C9-5D0B-A4C458DDD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4F5CA3-0922-5BF3-9DD6-892D04B3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CFA40-D172-204D-FCAB-A1EF77FA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7F7F1F-DC92-8A30-7356-3F94456A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91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EE252-67D6-C9CD-689C-1FF707B9E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9733DB-2AB0-F4E9-36B8-900C57406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80" y="1812289"/>
            <a:ext cx="10515600" cy="4351338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E44DFA-4F16-949F-CBD8-883B4F08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B278D3-3B5E-F788-35F5-93FA484B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ED0388-2B37-1CE8-2CB4-E2E28138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245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EE252-67D6-C9CD-689C-1FF707B9E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80" y="365125"/>
            <a:ext cx="5206257" cy="90487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9733DB-2AB0-F4E9-36B8-900C57406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81" y="1812289"/>
            <a:ext cx="5206256" cy="4351338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E44DFA-4F16-949F-CBD8-883B4F08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1881" y="6356350"/>
            <a:ext cx="497275" cy="365124"/>
          </a:xfrm>
        </p:spPr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B278D3-3B5E-F788-35F5-93FA484B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9156" y="6356350"/>
            <a:ext cx="4114800" cy="365125"/>
          </a:xfrm>
        </p:spPr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ED0388-2B37-1CE8-2CB4-E2E28138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292DC3CD-CBB8-7967-AC79-EFBF6A2A12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8282" y="-1"/>
            <a:ext cx="5633718" cy="6858001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 anchorCtr="0"/>
          <a:lstStyle>
            <a:lvl1pPr>
              <a:defRPr>
                <a:solidFill>
                  <a:srgbClr val="008C93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52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1D9F0F1-FC7E-5B48-F027-6986AE6F5F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1880" y="-1"/>
            <a:ext cx="4581788" cy="6858001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 anchorCtr="0"/>
          <a:lstStyle>
            <a:lvl1pPr>
              <a:defRPr>
                <a:solidFill>
                  <a:srgbClr val="008C93"/>
                </a:solidFill>
              </a:defRPr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88EE252-67D6-C9CD-689C-1FF707B9E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491480" cy="90487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9733DB-2AB0-F4E9-36B8-900C57406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12289"/>
            <a:ext cx="5491480" cy="435240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E44DFA-4F16-949F-CBD8-883B4F08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B278D3-3B5E-F788-35F5-93FA484B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ED0388-2B37-1CE8-2CB4-E2E28138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38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04825-E66A-DB36-C788-A315D6F5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80" y="1709738"/>
            <a:ext cx="10275569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C43AF8-35F5-44C6-EE4F-2234EB2E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80" y="4589463"/>
            <a:ext cx="1027556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145002-FFB8-A003-6B5B-0B86FA33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A3F0D6-ECDE-E61B-1E77-388A7C14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DD38A5-868D-BD47-AD84-748354BF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845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D92D52-102D-2D31-F284-69F208E6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CF72E7-F991-3854-D455-6FE56E87B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1880" y="1812289"/>
            <a:ext cx="5181600" cy="435240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CA3FC3-FBFD-6185-7647-38AAA37CD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5880" y="1812289"/>
            <a:ext cx="5181600" cy="435240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5D43AB-BF06-91AC-F1CD-8F537B2D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0E8E69-02FD-641B-BDA6-CA2D5C16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C23193-114C-CAB6-E816-B4FB1FC5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62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AD1C0A-A63B-EB61-551B-1372F7E30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80" y="1812289"/>
            <a:ext cx="5157787" cy="672466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E7FB71-2DDE-6970-C264-9291F3B4F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880" y="2484755"/>
            <a:ext cx="5157787" cy="3684588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87D251-7735-1009-D4EF-0BAA60B6B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4292" y="1812289"/>
            <a:ext cx="5183188" cy="672466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0F9456-F8FD-A43E-E5BD-6751E2647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4292" y="2484755"/>
            <a:ext cx="5183188" cy="3684588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D4DA22-F17B-6616-B1B3-670F300F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FC0C41-BE66-CD23-E9D6-1FEB355E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77BBB8-A2BA-9D47-2377-2FF3D137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CB96B2-EEB3-B527-836D-B4308133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80" y="365125"/>
            <a:ext cx="10515600" cy="90487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71637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65D059-1711-DF47-B238-A359CFC24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6E5DBE-76C7-A017-15DC-68F5F90A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0EE6B5-2AEC-4C59-B0FA-B2B1982D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DE7710-644B-3533-C671-05401B50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3008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6111C27-36FA-BC43-3A67-B4F67DF6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79D09F-1FF2-2110-6E72-3EF0E6FA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11052C-8010-D3E8-ABE6-B3BB1B3E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514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E7BDE-506B-E25B-36E4-DCA3B1CA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9B4B17-AB2B-5037-4456-55B954B51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EC40FC-731F-FD57-E256-06337845D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CEB2A0-A7E9-3CA7-E072-6A22E968B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89D710-F634-344E-7082-815B3631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55D6CA-009E-28E6-18C1-80D10849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113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EBD41B-7D17-9FA5-D082-7E3E5AD7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83834D-28A4-1256-6A9A-9730D699D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050069-0A5E-5875-AF8D-BE142E927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E3EF55-B435-02C2-A685-519AF5B9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A8FA6F-88D6-E8FD-EE24-885EE5F3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A1589C-D899-EB33-06ED-417EE12D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9424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CCBAF-144C-1970-7AB0-EF19FB85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2C1FD9-805E-093F-97C9-971CF2C70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396200-1B7E-AEC3-D674-B6F6AE4B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685FCF-12E7-4B2A-0A7E-DDFC34F6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4D95C-CFBA-F77A-1E4B-C7E1FC24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455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6C29F7-21FF-8829-35F0-396A640DA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AED3AC-AED5-B49D-0AD7-9BF6B9B45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834D37-6848-6A36-2913-3374B19B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987837-A575-27D4-B350-CE5AEDC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767347-48BD-1564-C4BE-AAB99DF9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64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3A9587-6FB0-CCB7-8630-53663E25D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80" y="365125"/>
            <a:ext cx="10515600" cy="904875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/>
          <a:p>
            <a:r>
              <a:rPr lang="de-DE" dirty="0"/>
              <a:t>Edit master title format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0D73D8-72C2-2E6E-2065-7281F742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880" y="1825625"/>
            <a:ext cx="10515600" cy="435133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de-DE" dirty="0"/>
              <a:t>Edit master text format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D4C708-4137-3C0A-551A-2D9AAC5F6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1881" y="6430646"/>
            <a:ext cx="583298" cy="216534"/>
          </a:xfrm>
          <a:prstGeom prst="rect">
            <a:avLst/>
          </a:prstGeom>
        </p:spPr>
        <p:txBody>
          <a:bodyPr vert="horz" lIns="0" tIns="46800" rIns="36000" bIns="45720" rtlCol="0" anchor="ctr">
            <a:noAutofit/>
          </a:bodyPr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e-CH"/>
              <a:t>14.09.25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DFCF92-A926-F8F6-6AFF-0354C83B3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5179" y="6357737"/>
            <a:ext cx="4114800" cy="365125"/>
          </a:xfrm>
          <a:prstGeom prst="rect">
            <a:avLst/>
          </a:prstGeom>
        </p:spPr>
        <p:txBody>
          <a:bodyPr vert="horz" lIns="0" tIns="45720" rIns="9000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e-DE"/>
              <a:t>Masterclass thesis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281028-82D3-96E1-4C2C-91281281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42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5EC0AEB-A904-0F4F-8D00-5EA852C9404E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 descr="Ein Bild, das Schrift, Grafiken, Text, Screenshot enthält.&#10;&#10;Automatisch generierte Beschreibung">
            <a:extLst>
              <a:ext uri="{FF2B5EF4-FFF2-40B4-BE49-F238E27FC236}">
                <a16:creationId xmlns:a16="http://schemas.microsoft.com/office/drawing/2014/main" id="{A7555289-0377-D927-05ED-9B0B5F869FC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16200000">
            <a:off x="-571340" y="5001103"/>
            <a:ext cx="1930084" cy="42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8C9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Symbol" pitchFamily="2" charset="2"/>
        <a:buChar char="-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Symbol" pitchFamily="2" charset="2"/>
        <a:buChar char="-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Symbol" pitchFamily="2" charset="2"/>
        <a:buChar char="-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Symbol" pitchFamily="2" charset="2"/>
        <a:buChar char="-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ED35-5233-8DDB-244E-298F3433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F587536E-EE02-7681-D7C8-B20B298406E5}"/>
              </a:ext>
            </a:extLst>
          </p:cNvPr>
          <p:cNvSpPr>
            <a:spLocks/>
          </p:cNvSpPr>
          <p:nvPr/>
        </p:nvSpPr>
        <p:spPr>
          <a:xfrm>
            <a:off x="4098275" y="974460"/>
            <a:ext cx="1800000" cy="1080000"/>
          </a:xfrm>
          <a:prstGeom prst="rect">
            <a:avLst/>
          </a:prstGeom>
          <a:solidFill>
            <a:srgbClr val="E6F4F1">
              <a:alpha val="49804"/>
            </a:srgbClr>
          </a:solidFill>
          <a:ln w="6350">
            <a:solidFill>
              <a:srgbClr val="008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1200" b="1" noProof="0" dirty="0">
              <a:solidFill>
                <a:srgbClr val="008C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b="1" dirty="0">
              <a:solidFill>
                <a:srgbClr val="008C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noProof="0" dirty="0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Encounter</a:t>
            </a:r>
          </a:p>
          <a:p>
            <a:pPr algn="ctr"/>
            <a:r>
              <a:rPr lang="en-US" sz="1200" b="1" dirty="0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(Contact)</a:t>
            </a:r>
          </a:p>
          <a:p>
            <a:pPr algn="ctr"/>
            <a:endParaRPr lang="en-US" sz="1200" noProof="0" dirty="0">
              <a:solidFill>
                <a:srgbClr val="008C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dirty="0">
              <a:solidFill>
                <a:srgbClr val="008C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707B98C-D89B-FCE2-0E84-D87940A4A1D2}"/>
              </a:ext>
            </a:extLst>
          </p:cNvPr>
          <p:cNvSpPr>
            <a:spLocks/>
          </p:cNvSpPr>
          <p:nvPr/>
        </p:nvSpPr>
        <p:spPr>
          <a:xfrm>
            <a:off x="7093188" y="974460"/>
            <a:ext cx="1800000" cy="1080000"/>
          </a:xfrm>
          <a:prstGeom prst="rect">
            <a:avLst/>
          </a:prstGeom>
          <a:solidFill>
            <a:srgbClr val="B44C74">
              <a:alpha val="25000"/>
            </a:srgbClr>
          </a:solidFill>
          <a:ln w="6350">
            <a:solidFill>
              <a:srgbClr val="B44C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1200" b="1" noProof="0" dirty="0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b="1" dirty="0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noProof="0" dirty="0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of Care  </a:t>
            </a:r>
            <a:endParaRPr lang="en-US" sz="1200" noProof="0" dirty="0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noProof="0" dirty="0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(Health Problem)</a:t>
            </a:r>
          </a:p>
          <a:p>
            <a:pPr algn="ctr"/>
            <a:endParaRPr lang="en-US" sz="1200" b="1" noProof="0" dirty="0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noProof="0" dirty="0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858A9C-2D84-9554-74CC-70D68EBA62BE}"/>
              </a:ext>
            </a:extLst>
          </p:cNvPr>
          <p:cNvSpPr>
            <a:spLocks/>
          </p:cNvSpPr>
          <p:nvPr/>
        </p:nvSpPr>
        <p:spPr>
          <a:xfrm>
            <a:off x="5640277" y="2619229"/>
            <a:ext cx="1800000" cy="648000"/>
          </a:xfrm>
          <a:prstGeom prst="rect">
            <a:avLst/>
          </a:prstGeom>
          <a:solidFill>
            <a:schemeClr val="bg1">
              <a:lumMod val="85000"/>
              <a:alpha val="49804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1200" b="1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Contact</a:t>
            </a:r>
          </a:p>
          <a:p>
            <a:pPr algn="ctr"/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winkelte Verbindung 7">
            <a:extLst>
              <a:ext uri="{FF2B5EF4-FFF2-40B4-BE49-F238E27FC236}">
                <a16:creationId xmlns:a16="http://schemas.microsoft.com/office/drawing/2014/main" id="{52954372-4C02-A476-9821-C3526D63D16E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 rot="16200000" flipH="1">
            <a:off x="4874892" y="2177843"/>
            <a:ext cx="888769" cy="642002"/>
          </a:xfrm>
          <a:prstGeom prst="bentConnector2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winkelte Verbindung 8">
            <a:extLst>
              <a:ext uri="{FF2B5EF4-FFF2-40B4-BE49-F238E27FC236}">
                <a16:creationId xmlns:a16="http://schemas.microsoft.com/office/drawing/2014/main" id="{23C4F967-8506-18E9-B6DA-562A7FA02B9C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5400000">
            <a:off x="7272349" y="2222389"/>
            <a:ext cx="888769" cy="552911"/>
          </a:xfrm>
          <a:prstGeom prst="bentConnector2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42609BDB-0185-99C2-1480-61F7ECEBA3D6}"/>
              </a:ext>
            </a:extLst>
          </p:cNvPr>
          <p:cNvSpPr>
            <a:spLocks/>
          </p:cNvSpPr>
          <p:nvPr/>
        </p:nvSpPr>
        <p:spPr>
          <a:xfrm>
            <a:off x="5640277" y="3829798"/>
            <a:ext cx="1800000" cy="1080000"/>
          </a:xfrm>
          <a:prstGeom prst="rect">
            <a:avLst/>
          </a:prstGeom>
          <a:solidFill>
            <a:schemeClr val="accent6">
              <a:lumMod val="40000"/>
              <a:lumOff val="60000"/>
              <a:alpha val="49804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1200" b="1" noProof="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noProof="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200" b="1" noProof="0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ecord</a:t>
            </a:r>
            <a:r>
              <a:rPr lang="en-US" sz="1200" b="1" noProof="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Entry</a:t>
            </a:r>
            <a:endParaRPr lang="en-US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noProof="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noProof="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C503B830-42E9-9F73-295F-315C805D579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6540277" y="3267229"/>
            <a:ext cx="0" cy="562569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9D001000-C767-1037-3630-4F537FE45BE0}"/>
              </a:ext>
            </a:extLst>
          </p:cNvPr>
          <p:cNvSpPr>
            <a:spLocks/>
          </p:cNvSpPr>
          <p:nvPr/>
        </p:nvSpPr>
        <p:spPr>
          <a:xfrm>
            <a:off x="10088101" y="974460"/>
            <a:ext cx="1800000" cy="1080000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1200" b="1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 and Problem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200" b="1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</a:t>
            </a:r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ctr">
              <a:buFontTx/>
              <a:buChar char="-"/>
            </a:pPr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ctr">
              <a:buFontTx/>
              <a:buChar char="-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Gewinkelte Verbindung 41">
            <a:extLst>
              <a:ext uri="{FF2B5EF4-FFF2-40B4-BE49-F238E27FC236}">
                <a16:creationId xmlns:a16="http://schemas.microsoft.com/office/drawing/2014/main" id="{F1CD6E4A-4F83-1F1C-8A27-D00681A203E2}"/>
              </a:ext>
            </a:extLst>
          </p:cNvPr>
          <p:cNvCxnSpPr>
            <a:cxnSpLocks/>
            <a:stCxn id="41" idx="2"/>
            <a:endCxn id="10" idx="3"/>
          </p:cNvCxnSpPr>
          <p:nvPr/>
        </p:nvCxnSpPr>
        <p:spPr>
          <a:xfrm rot="5400000">
            <a:off x="8056520" y="1438217"/>
            <a:ext cx="2315338" cy="3547824"/>
          </a:xfrm>
          <a:prstGeom prst="bentConnector2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DDDD6E0A-B5BD-A0F2-F3A8-2671D595F3DD}"/>
              </a:ext>
            </a:extLst>
          </p:cNvPr>
          <p:cNvCxnSpPr>
            <a:cxnSpLocks/>
            <a:stCxn id="41" idx="1"/>
            <a:endCxn id="6" idx="3"/>
          </p:cNvCxnSpPr>
          <p:nvPr/>
        </p:nvCxnSpPr>
        <p:spPr>
          <a:xfrm flipH="1">
            <a:off x="8893188" y="1514460"/>
            <a:ext cx="1194913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feld 70">
            <a:extLst>
              <a:ext uri="{FF2B5EF4-FFF2-40B4-BE49-F238E27FC236}">
                <a16:creationId xmlns:a16="http://schemas.microsoft.com/office/drawing/2014/main" id="{CF7DAA46-1111-2689-EC03-0FE87ABEB657}"/>
              </a:ext>
            </a:extLst>
          </p:cNvPr>
          <p:cNvSpPr txBox="1"/>
          <p:nvPr/>
        </p:nvSpPr>
        <p:spPr>
          <a:xfrm>
            <a:off x="6338652" y="3256406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884066D2-2292-9DFE-8481-5FE026299345}"/>
              </a:ext>
            </a:extLst>
          </p:cNvPr>
          <p:cNvSpPr txBox="1"/>
          <p:nvPr/>
        </p:nvSpPr>
        <p:spPr>
          <a:xfrm>
            <a:off x="6338652" y="3598432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55B57355-7AB9-D10B-9B3F-AB6A578C0BB1}"/>
              </a:ext>
            </a:extLst>
          </p:cNvPr>
          <p:cNvSpPr txBox="1"/>
          <p:nvPr/>
        </p:nvSpPr>
        <p:spPr>
          <a:xfrm>
            <a:off x="7411983" y="2736883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D0DE7529-685A-60B1-C720-61F1FD6ED2E0}"/>
              </a:ext>
            </a:extLst>
          </p:cNvPr>
          <p:cNvSpPr txBox="1"/>
          <p:nvPr/>
        </p:nvSpPr>
        <p:spPr>
          <a:xfrm>
            <a:off x="5397697" y="2736883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0AD3364-F4C9-B204-C7C1-D9A663D5686D}"/>
              </a:ext>
            </a:extLst>
          </p:cNvPr>
          <p:cNvSpPr txBox="1"/>
          <p:nvPr/>
        </p:nvSpPr>
        <p:spPr>
          <a:xfrm>
            <a:off x="4976240" y="2105527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48EDC6C-797F-D371-6093-0FD07A1CF2B0}"/>
              </a:ext>
            </a:extLst>
          </p:cNvPr>
          <p:cNvSpPr txBox="1"/>
          <p:nvPr/>
        </p:nvSpPr>
        <p:spPr>
          <a:xfrm>
            <a:off x="7774375" y="2105527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B13C2234-FFA1-FC5A-8012-A428F557A8E0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>
            <a:off x="4998274" y="4367730"/>
            <a:ext cx="642003" cy="2068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9B8504F5-DA01-6AC8-FFF0-F33F51E46660}"/>
              </a:ext>
            </a:extLst>
          </p:cNvPr>
          <p:cNvSpPr txBox="1"/>
          <p:nvPr/>
        </p:nvSpPr>
        <p:spPr>
          <a:xfrm>
            <a:off x="5419731" y="4127969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72498B9-70E0-EA75-3266-F6A1DFD2F06E}"/>
              </a:ext>
            </a:extLst>
          </p:cNvPr>
          <p:cNvSpPr txBox="1"/>
          <p:nvPr/>
        </p:nvSpPr>
        <p:spPr>
          <a:xfrm>
            <a:off x="3748172" y="1286193"/>
            <a:ext cx="46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1..n</a:t>
            </a:r>
            <a:endParaRPr lang="en-US" sz="10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10C74BB-EFB4-813D-2CCF-2EA4C8B14273}"/>
              </a:ext>
            </a:extLst>
          </p:cNvPr>
          <p:cNvSpPr txBox="1"/>
          <p:nvPr/>
        </p:nvSpPr>
        <p:spPr>
          <a:xfrm>
            <a:off x="8604174" y="8064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8FEDA7C-7543-65CB-6390-3FE1DE9D9653}"/>
              </a:ext>
            </a:extLst>
          </p:cNvPr>
          <p:cNvSpPr/>
          <p:nvPr/>
        </p:nvSpPr>
        <p:spPr>
          <a:xfrm>
            <a:off x="0" y="3966072"/>
            <a:ext cx="683046" cy="2891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068BB57-0033-9CDF-6A38-13A3A5B51877}"/>
              </a:ext>
            </a:extLst>
          </p:cNvPr>
          <p:cNvSpPr>
            <a:spLocks/>
          </p:cNvSpPr>
          <p:nvPr/>
        </p:nvSpPr>
        <p:spPr>
          <a:xfrm>
            <a:off x="3198274" y="4043730"/>
            <a:ext cx="1800000" cy="648000"/>
          </a:xfrm>
          <a:prstGeom prst="rect">
            <a:avLst/>
          </a:prstGeom>
          <a:solidFill>
            <a:schemeClr val="bg1">
              <a:lumMod val="85000"/>
              <a:alpha val="49804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1200" b="1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Section</a:t>
            </a:r>
          </a:p>
          <a:p>
            <a:pPr algn="ctr"/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47797D0-0734-F651-B390-7F1285F74FFF}"/>
              </a:ext>
            </a:extLst>
          </p:cNvPr>
          <p:cNvSpPr>
            <a:spLocks/>
          </p:cNvSpPr>
          <p:nvPr/>
        </p:nvSpPr>
        <p:spPr>
          <a:xfrm>
            <a:off x="1103362" y="974460"/>
            <a:ext cx="1800000" cy="1080000"/>
          </a:xfrm>
          <a:prstGeom prst="rect">
            <a:avLst/>
          </a:prstGeom>
          <a:solidFill>
            <a:schemeClr val="bg1">
              <a:lumMod val="85000"/>
              <a:alpha val="49804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Administrative Encounter</a:t>
            </a: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Gerade Verbindung 57">
            <a:extLst>
              <a:ext uri="{FF2B5EF4-FFF2-40B4-BE49-F238E27FC236}">
                <a16:creationId xmlns:a16="http://schemas.microsoft.com/office/drawing/2014/main" id="{44A18CFF-F2A1-26D9-8A6E-427642C33C07}"/>
              </a:ext>
            </a:extLst>
          </p:cNvPr>
          <p:cNvCxnSpPr>
            <a:cxnSpLocks/>
            <a:stCxn id="57" idx="3"/>
            <a:endCxn id="5" idx="1"/>
          </p:cNvCxnSpPr>
          <p:nvPr/>
        </p:nvCxnSpPr>
        <p:spPr>
          <a:xfrm>
            <a:off x="2903362" y="1514460"/>
            <a:ext cx="1194913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6BCF93AD-9258-CBD0-31FD-FBCF79FC09D5}"/>
              </a:ext>
            </a:extLst>
          </p:cNvPr>
          <p:cNvSpPr txBox="1"/>
          <p:nvPr/>
        </p:nvSpPr>
        <p:spPr>
          <a:xfrm>
            <a:off x="2885994" y="1286193"/>
            <a:ext cx="46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0..1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0821E79F-CD20-73CB-B51E-8A37343119D3}"/>
              </a:ext>
            </a:extLst>
          </p:cNvPr>
          <p:cNvSpPr txBox="1"/>
          <p:nvPr/>
        </p:nvSpPr>
        <p:spPr>
          <a:xfrm>
            <a:off x="4982046" y="4127969"/>
            <a:ext cx="349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sz="10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CE734CE-FC2B-3DEA-013B-06179AEB1EA5}"/>
              </a:ext>
            </a:extLst>
          </p:cNvPr>
          <p:cNvSpPr txBox="1"/>
          <p:nvPr/>
        </p:nvSpPr>
        <p:spPr>
          <a:xfrm>
            <a:off x="7550976" y="4150003"/>
            <a:ext cx="12827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00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eferences</a:t>
            </a:r>
            <a:endParaRPr lang="en-US" sz="10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390354AA-B418-6F8D-8456-36F5E8D1855A}"/>
              </a:ext>
            </a:extLst>
          </p:cNvPr>
          <p:cNvSpPr txBox="1"/>
          <p:nvPr/>
        </p:nvSpPr>
        <p:spPr>
          <a:xfrm>
            <a:off x="8893188" y="1514460"/>
            <a:ext cx="1194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00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eferences</a:t>
            </a:r>
            <a:endParaRPr lang="en-US" sz="10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64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8EAF-6B82-CC9D-179D-FF6F1704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feld 62">
            <a:extLst>
              <a:ext uri="{FF2B5EF4-FFF2-40B4-BE49-F238E27FC236}">
                <a16:creationId xmlns:a16="http://schemas.microsoft.com/office/drawing/2014/main" id="{5D733A51-8B45-D2E2-008E-26D66B6352B4}"/>
              </a:ext>
            </a:extLst>
          </p:cNvPr>
          <p:cNvSpPr txBox="1"/>
          <p:nvPr/>
        </p:nvSpPr>
        <p:spPr>
          <a:xfrm>
            <a:off x="499730" y="654931"/>
            <a:ext cx="2461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Administrative Encounter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EF9CB105-B3AF-BDCB-96AC-709E309D5486}"/>
              </a:ext>
            </a:extLst>
          </p:cNvPr>
          <p:cNvSpPr txBox="1"/>
          <p:nvPr/>
        </p:nvSpPr>
        <p:spPr>
          <a:xfrm>
            <a:off x="3037040" y="654931"/>
            <a:ext cx="2075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Encounter (Contact)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7632F740-F515-62A4-DADA-FDA3CFDD9589}"/>
              </a:ext>
            </a:extLst>
          </p:cNvPr>
          <p:cNvSpPr txBox="1"/>
          <p:nvPr/>
        </p:nvSpPr>
        <p:spPr>
          <a:xfrm>
            <a:off x="5586171" y="654931"/>
            <a:ext cx="2245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Information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591C569-6C79-97AF-CCFA-9AD991916D16}"/>
              </a:ext>
            </a:extLst>
          </p:cNvPr>
          <p:cNvSpPr txBox="1"/>
          <p:nvPr/>
        </p:nvSpPr>
        <p:spPr>
          <a:xfrm>
            <a:off x="8840293" y="654931"/>
            <a:ext cx="2639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noProof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of Care (Health Problem)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1918914-E921-3BDD-08AA-434084CA29DF}"/>
              </a:ext>
            </a:extLst>
          </p:cNvPr>
          <p:cNvSpPr/>
          <p:nvPr/>
        </p:nvSpPr>
        <p:spPr>
          <a:xfrm>
            <a:off x="0" y="3966072"/>
            <a:ext cx="683046" cy="2891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A86EFCF-3DEA-9046-2CC2-103B0A26212D}"/>
              </a:ext>
            </a:extLst>
          </p:cNvPr>
          <p:cNvSpPr>
            <a:spLocks/>
          </p:cNvSpPr>
          <p:nvPr/>
        </p:nvSpPr>
        <p:spPr>
          <a:xfrm>
            <a:off x="5674308" y="1231419"/>
            <a:ext cx="2389006" cy="665114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 </a:t>
            </a: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(defined by Template)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ENTRY 1 </a:t>
            </a: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(constrained  by Archetype)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E2841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ENTRY 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A2D3A8A-D3D1-7EAA-8411-BC894E825122}"/>
              </a:ext>
            </a:extLst>
          </p:cNvPr>
          <p:cNvSpPr>
            <a:spLocks/>
          </p:cNvSpPr>
          <p:nvPr/>
        </p:nvSpPr>
        <p:spPr>
          <a:xfrm>
            <a:off x="5674308" y="1984948"/>
            <a:ext cx="2389006" cy="825981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ENTRY 3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E2841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ENTRY 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E2841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ENTRY 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99D7E8B-6158-9509-4056-F4D9F5AE0908}"/>
              </a:ext>
            </a:extLst>
          </p:cNvPr>
          <p:cNvSpPr>
            <a:spLocks/>
          </p:cNvSpPr>
          <p:nvPr/>
        </p:nvSpPr>
        <p:spPr>
          <a:xfrm>
            <a:off x="5674308" y="3051750"/>
            <a:ext cx="2389006" cy="665114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ENTRY 6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E2841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ENTRY 7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DB3CACB-88CF-997B-52A0-B89B03145BBC}"/>
              </a:ext>
            </a:extLst>
          </p:cNvPr>
          <p:cNvSpPr>
            <a:spLocks/>
          </p:cNvSpPr>
          <p:nvPr/>
        </p:nvSpPr>
        <p:spPr>
          <a:xfrm>
            <a:off x="5674308" y="3805282"/>
            <a:ext cx="2389006" cy="495785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ENTRY 8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E2841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A875FA9-ED32-14AA-667A-D1AC3181A833}"/>
              </a:ext>
            </a:extLst>
          </p:cNvPr>
          <p:cNvSpPr>
            <a:spLocks/>
          </p:cNvSpPr>
          <p:nvPr/>
        </p:nvSpPr>
        <p:spPr>
          <a:xfrm>
            <a:off x="5674308" y="4541884"/>
            <a:ext cx="2389006" cy="665114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E2841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9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E2841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ENTRY 10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E4DFC13-565A-3BA4-19E4-1C9E4288D03D}"/>
              </a:ext>
            </a:extLst>
          </p:cNvPr>
          <p:cNvSpPr>
            <a:spLocks/>
          </p:cNvSpPr>
          <p:nvPr/>
        </p:nvSpPr>
        <p:spPr>
          <a:xfrm>
            <a:off x="3099505" y="1231420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Care Encounter 1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AA9843A-51E0-77A0-CC79-1D483D5154C9}"/>
              </a:ext>
            </a:extLst>
          </p:cNvPr>
          <p:cNvCxnSpPr>
            <a:cxnSpLocks/>
          </p:cNvCxnSpPr>
          <p:nvPr/>
        </p:nvCxnSpPr>
        <p:spPr>
          <a:xfrm flipH="1">
            <a:off x="4933380" y="1444042"/>
            <a:ext cx="740928" cy="0"/>
          </a:xfrm>
          <a:prstGeom prst="straightConnector1">
            <a:avLst/>
          </a:prstGeom>
          <a:noFill/>
          <a:ln w="6350" cap="flat" cmpd="sng" algn="ctr">
            <a:solidFill>
              <a:srgbClr val="156082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12" name="Gewinkelte Verbindung 11">
            <a:extLst>
              <a:ext uri="{FF2B5EF4-FFF2-40B4-BE49-F238E27FC236}">
                <a16:creationId xmlns:a16="http://schemas.microsoft.com/office/drawing/2014/main" id="{96834826-68EC-092E-FFDB-1C7838805F40}"/>
              </a:ext>
            </a:extLst>
          </p:cNvPr>
          <p:cNvCxnSpPr>
            <a:stCxn id="4" idx="1"/>
            <a:endCxn id="8" idx="3"/>
          </p:cNvCxnSpPr>
          <p:nvPr/>
        </p:nvCxnSpPr>
        <p:spPr>
          <a:xfrm rot="10800000">
            <a:off x="4933380" y="1444043"/>
            <a:ext cx="740928" cy="953896"/>
          </a:xfrm>
          <a:prstGeom prst="bentConnector3">
            <a:avLst/>
          </a:prstGeom>
          <a:noFill/>
          <a:ln w="6350" cap="flat" cmpd="sng" algn="ctr">
            <a:solidFill>
              <a:srgbClr val="156082"/>
            </a:solidFill>
            <a:prstDash val="solid"/>
            <a:miter lim="800000"/>
            <a:tailEnd type="none"/>
          </a:ln>
          <a:effectLst/>
        </p:spPr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C3B61234-7A96-918A-0A9E-1764B5686E9B}"/>
              </a:ext>
            </a:extLst>
          </p:cNvPr>
          <p:cNvSpPr>
            <a:spLocks/>
          </p:cNvSpPr>
          <p:nvPr/>
        </p:nvSpPr>
        <p:spPr>
          <a:xfrm>
            <a:off x="3099504" y="3064924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Care Encounter 2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BE0EF80-EDCD-60E3-AC4D-9C0AE4FB7884}"/>
              </a:ext>
            </a:extLst>
          </p:cNvPr>
          <p:cNvCxnSpPr>
            <a:cxnSpLocks/>
          </p:cNvCxnSpPr>
          <p:nvPr/>
        </p:nvCxnSpPr>
        <p:spPr>
          <a:xfrm flipH="1">
            <a:off x="4933379" y="3277546"/>
            <a:ext cx="740928" cy="0"/>
          </a:xfrm>
          <a:prstGeom prst="straightConnector1">
            <a:avLst/>
          </a:prstGeom>
          <a:noFill/>
          <a:ln w="6350" cap="flat" cmpd="sng" algn="ctr">
            <a:solidFill>
              <a:srgbClr val="156082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16" name="Gewinkelte Verbindung 15">
            <a:extLst>
              <a:ext uri="{FF2B5EF4-FFF2-40B4-BE49-F238E27FC236}">
                <a16:creationId xmlns:a16="http://schemas.microsoft.com/office/drawing/2014/main" id="{D4EC1E64-B4CD-8CED-5E33-2B6639D34481}"/>
              </a:ext>
            </a:extLst>
          </p:cNvPr>
          <p:cNvCxnSpPr>
            <a:cxnSpLocks/>
            <a:stCxn id="6" idx="1"/>
            <a:endCxn id="13" idx="3"/>
          </p:cNvCxnSpPr>
          <p:nvPr/>
        </p:nvCxnSpPr>
        <p:spPr>
          <a:xfrm rot="10800000">
            <a:off x="4933380" y="3277547"/>
            <a:ext cx="740929" cy="775628"/>
          </a:xfrm>
          <a:prstGeom prst="bentConnector3">
            <a:avLst/>
          </a:prstGeom>
          <a:noFill/>
          <a:ln w="6350" cap="flat" cmpd="sng" algn="ctr">
            <a:solidFill>
              <a:srgbClr val="156082"/>
            </a:solidFill>
            <a:prstDash val="solid"/>
            <a:miter lim="800000"/>
            <a:tailEnd type="none"/>
          </a:ln>
          <a:effectLst/>
        </p:spPr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AA058905-DCFD-156E-8E3D-B310B67D1647}"/>
              </a:ext>
            </a:extLst>
          </p:cNvPr>
          <p:cNvSpPr>
            <a:spLocks/>
          </p:cNvSpPr>
          <p:nvPr/>
        </p:nvSpPr>
        <p:spPr>
          <a:xfrm>
            <a:off x="3099504" y="4541884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Care Encounter 3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24253C8-2E63-ECD7-42A5-11ECF36B17B1}"/>
              </a:ext>
            </a:extLst>
          </p:cNvPr>
          <p:cNvCxnSpPr>
            <a:cxnSpLocks/>
          </p:cNvCxnSpPr>
          <p:nvPr/>
        </p:nvCxnSpPr>
        <p:spPr>
          <a:xfrm flipH="1">
            <a:off x="4933379" y="4754506"/>
            <a:ext cx="740928" cy="0"/>
          </a:xfrm>
          <a:prstGeom prst="straightConnector1">
            <a:avLst/>
          </a:prstGeom>
          <a:noFill/>
          <a:ln w="6350" cap="flat" cmpd="sng" algn="ctr">
            <a:solidFill>
              <a:srgbClr val="156082"/>
            </a:solidFill>
            <a:prstDash val="solid"/>
            <a:miter lim="800000"/>
            <a:tailEnd type="none"/>
          </a:ln>
          <a:effectLst/>
        </p:spPr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51C29852-7685-2128-A5CE-304D9CE82E26}"/>
              </a:ext>
            </a:extLst>
          </p:cNvPr>
          <p:cNvSpPr>
            <a:spLocks/>
          </p:cNvSpPr>
          <p:nvPr/>
        </p:nvSpPr>
        <p:spPr>
          <a:xfrm>
            <a:off x="602845" y="1231420"/>
            <a:ext cx="1833875" cy="3069648"/>
          </a:xfrm>
          <a:prstGeom prst="rect">
            <a:avLst/>
          </a:prstGeom>
          <a:solidFill>
            <a:sysClr val="window" lastClr="FFFFFF">
              <a:lumMod val="85000"/>
              <a:alpha val="49804"/>
            </a:sys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Administrative Encounter 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56B3AAD-C475-6A96-40CD-1CA189690C84}"/>
              </a:ext>
            </a:extLst>
          </p:cNvPr>
          <p:cNvSpPr>
            <a:spLocks/>
          </p:cNvSpPr>
          <p:nvPr/>
        </p:nvSpPr>
        <p:spPr>
          <a:xfrm>
            <a:off x="602844" y="4541884"/>
            <a:ext cx="1833875" cy="665114"/>
          </a:xfrm>
          <a:prstGeom prst="rect">
            <a:avLst/>
          </a:prstGeom>
          <a:solidFill>
            <a:sysClr val="window" lastClr="FFFFFF">
              <a:lumMod val="85000"/>
              <a:alpha val="49804"/>
            </a:sys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r>
              <a:rPr lang="en-GB" sz="1200" kern="0" noProof="1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Administrative Encounter 2</a:t>
            </a:r>
          </a:p>
          <a:p>
            <a:endParaRPr lang="en-GB" sz="1200" kern="0" noProof="1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200" kern="0" noProof="1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Gewinkelte Verbindung 27">
            <a:extLst>
              <a:ext uri="{FF2B5EF4-FFF2-40B4-BE49-F238E27FC236}">
                <a16:creationId xmlns:a16="http://schemas.microsoft.com/office/drawing/2014/main" id="{92BEC39A-FEEE-0585-1A76-C070592BE50A}"/>
              </a:ext>
            </a:extLst>
          </p:cNvPr>
          <p:cNvCxnSpPr>
            <a:cxnSpLocks/>
            <a:stCxn id="8" idx="1"/>
            <a:endCxn id="21" idx="3"/>
          </p:cNvCxnSpPr>
          <p:nvPr/>
        </p:nvCxnSpPr>
        <p:spPr>
          <a:xfrm rot="10800000" flipV="1">
            <a:off x="2436721" y="1444042"/>
            <a:ext cx="662785" cy="1322201"/>
          </a:xfrm>
          <a:prstGeom prst="bentConnector3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tailEnd type="none"/>
          </a:ln>
          <a:effectLst/>
        </p:spPr>
      </p:cxnSp>
      <p:cxnSp>
        <p:nvCxnSpPr>
          <p:cNvPr id="31" name="Gewinkelte Verbindung 30">
            <a:extLst>
              <a:ext uri="{FF2B5EF4-FFF2-40B4-BE49-F238E27FC236}">
                <a16:creationId xmlns:a16="http://schemas.microsoft.com/office/drawing/2014/main" id="{93122C51-946E-6EF0-B250-FFD3B8C62908}"/>
              </a:ext>
            </a:extLst>
          </p:cNvPr>
          <p:cNvCxnSpPr>
            <a:cxnSpLocks/>
            <a:stCxn id="13" idx="1"/>
            <a:endCxn id="21" idx="3"/>
          </p:cNvCxnSpPr>
          <p:nvPr/>
        </p:nvCxnSpPr>
        <p:spPr>
          <a:xfrm rot="10800000">
            <a:off x="2436720" y="2766245"/>
            <a:ext cx="662784" cy="51130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tailEnd type="none"/>
          </a:ln>
          <a:effectLst/>
        </p:spPr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4E89D128-F883-B2E8-E984-C933CB0938DA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2436719" y="4754506"/>
            <a:ext cx="662785" cy="1"/>
          </a:xfrm>
          <a:prstGeom prst="straightConnector1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tailEnd type="none"/>
          </a:ln>
          <a:effectLst/>
        </p:spPr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6C9C9D7F-F17D-EC95-2869-05F5903C6377}"/>
              </a:ext>
            </a:extLst>
          </p:cNvPr>
          <p:cNvSpPr txBox="1"/>
          <p:nvPr/>
        </p:nvSpPr>
        <p:spPr>
          <a:xfrm>
            <a:off x="4933379" y="1233770"/>
            <a:ext cx="965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1">
                <a:solidFill>
                  <a:srgbClr val="0070C0"/>
                </a:solidFill>
                <a:latin typeface="Aptos" panose="02110004020202020204"/>
              </a:rPr>
              <a:t>Relationship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A0065D5B-5033-54B3-4C6D-5316B6332A0D}"/>
              </a:ext>
            </a:extLst>
          </p:cNvPr>
          <p:cNvSpPr txBox="1"/>
          <p:nvPr/>
        </p:nvSpPr>
        <p:spPr>
          <a:xfrm>
            <a:off x="4937089" y="3036725"/>
            <a:ext cx="965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1">
                <a:solidFill>
                  <a:srgbClr val="0070C0"/>
                </a:solidFill>
                <a:latin typeface="Aptos" panose="02110004020202020204"/>
              </a:rPr>
              <a:t>Relationship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D286537-C4EE-16D4-05C1-59551DA3097D}"/>
              </a:ext>
            </a:extLst>
          </p:cNvPr>
          <p:cNvSpPr txBox="1"/>
          <p:nvPr/>
        </p:nvSpPr>
        <p:spPr>
          <a:xfrm>
            <a:off x="4933379" y="4540473"/>
            <a:ext cx="965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1">
                <a:solidFill>
                  <a:srgbClr val="0070C0"/>
                </a:solidFill>
                <a:latin typeface="Aptos" panose="02110004020202020204"/>
              </a:rPr>
              <a:t>Relationship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ED4EEC2E-0800-1E1B-E7B0-3C5C5CC9D219}"/>
              </a:ext>
            </a:extLst>
          </p:cNvPr>
          <p:cNvSpPr>
            <a:spLocks/>
          </p:cNvSpPr>
          <p:nvPr/>
        </p:nvSpPr>
        <p:spPr>
          <a:xfrm>
            <a:off x="8937329" y="2196621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Health Problem 1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93217A4C-4937-8F78-77BB-022514B4FF77}"/>
              </a:ext>
            </a:extLst>
          </p:cNvPr>
          <p:cNvSpPr>
            <a:spLocks/>
          </p:cNvSpPr>
          <p:nvPr/>
        </p:nvSpPr>
        <p:spPr>
          <a:xfrm>
            <a:off x="8937329" y="2767606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2</a:t>
            </a:r>
          </a:p>
          <a:p>
            <a:pPr lvl="0">
              <a:defRPr/>
            </a:pPr>
            <a:r>
              <a:rPr lang="en-GB" sz="12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 Problem 2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36B0D44A-E4ED-F317-92DB-A3CB2A816E67}"/>
              </a:ext>
            </a:extLst>
          </p:cNvPr>
          <p:cNvSpPr>
            <a:spLocks/>
          </p:cNvSpPr>
          <p:nvPr/>
        </p:nvSpPr>
        <p:spPr>
          <a:xfrm>
            <a:off x="8937329" y="3338096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3</a:t>
            </a:r>
          </a:p>
          <a:p>
            <a:pPr lvl="0">
              <a:defRPr/>
            </a:pPr>
            <a:r>
              <a:rPr lang="en-GB" sz="12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 Problem 3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A01027F0-6AAD-2B74-A415-A02E5AEAFEA9}"/>
              </a:ext>
            </a:extLst>
          </p:cNvPr>
          <p:cNvCxnSpPr>
            <a:cxnSpLocks/>
            <a:stCxn id="3" idx="3"/>
            <a:endCxn id="62" idx="1"/>
          </p:cNvCxnSpPr>
          <p:nvPr/>
        </p:nvCxnSpPr>
        <p:spPr>
          <a:xfrm>
            <a:off x="8063314" y="1563976"/>
            <a:ext cx="874015" cy="863478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07145CD8-875D-CC65-4834-5734C9D29080}"/>
              </a:ext>
            </a:extLst>
          </p:cNvPr>
          <p:cNvCxnSpPr>
            <a:cxnSpLocks/>
            <a:stCxn id="3" idx="3"/>
            <a:endCxn id="70" idx="1"/>
          </p:cNvCxnSpPr>
          <p:nvPr/>
        </p:nvCxnSpPr>
        <p:spPr>
          <a:xfrm>
            <a:off x="8063314" y="1563976"/>
            <a:ext cx="874015" cy="2004953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5FD221D1-8ACB-01A4-3090-92B549CE292F}"/>
              </a:ext>
            </a:extLst>
          </p:cNvPr>
          <p:cNvCxnSpPr>
            <a:cxnSpLocks/>
            <a:stCxn id="4" idx="3"/>
            <a:endCxn id="69" idx="1"/>
          </p:cNvCxnSpPr>
          <p:nvPr/>
        </p:nvCxnSpPr>
        <p:spPr>
          <a:xfrm>
            <a:off x="8063314" y="2397939"/>
            <a:ext cx="874015" cy="600500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8F215A50-0341-520E-8339-9BC14E2465DD}"/>
              </a:ext>
            </a:extLst>
          </p:cNvPr>
          <p:cNvCxnSpPr>
            <a:cxnSpLocks/>
            <a:stCxn id="5" idx="3"/>
            <a:endCxn id="62" idx="1"/>
          </p:cNvCxnSpPr>
          <p:nvPr/>
        </p:nvCxnSpPr>
        <p:spPr>
          <a:xfrm flipV="1">
            <a:off x="8063314" y="2427454"/>
            <a:ext cx="874015" cy="956853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934A1491-F82C-9930-9F8F-79203237509A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 flipV="1">
            <a:off x="8063314" y="2998439"/>
            <a:ext cx="874015" cy="1054736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F68DD91D-5E12-6787-93F0-54B3D058D9CC}"/>
              </a:ext>
            </a:extLst>
          </p:cNvPr>
          <p:cNvCxnSpPr>
            <a:cxnSpLocks/>
            <a:stCxn id="7" idx="3"/>
            <a:endCxn id="70" idx="1"/>
          </p:cNvCxnSpPr>
          <p:nvPr/>
        </p:nvCxnSpPr>
        <p:spPr>
          <a:xfrm flipV="1">
            <a:off x="8063314" y="3568929"/>
            <a:ext cx="874015" cy="1305512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CC77AF5B-4BC2-BAC0-766E-0CA2AF5AA4E6}"/>
              </a:ext>
            </a:extLst>
          </p:cNvPr>
          <p:cNvCxnSpPr>
            <a:cxnSpLocks/>
            <a:stCxn id="5" idx="3"/>
            <a:endCxn id="70" idx="1"/>
          </p:cNvCxnSpPr>
          <p:nvPr/>
        </p:nvCxnSpPr>
        <p:spPr>
          <a:xfrm>
            <a:off x="8063314" y="3384307"/>
            <a:ext cx="874015" cy="184622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none"/>
          </a:ln>
          <a:effectLst/>
        </p:spPr>
      </p:cxnSp>
      <p:sp>
        <p:nvSpPr>
          <p:cNvPr id="97" name="Textfeld 96">
            <a:extLst>
              <a:ext uri="{FF2B5EF4-FFF2-40B4-BE49-F238E27FC236}">
                <a16:creationId xmlns:a16="http://schemas.microsoft.com/office/drawing/2014/main" id="{787C26B3-EE9A-53A9-BE78-D64A8E7E6862}"/>
              </a:ext>
            </a:extLst>
          </p:cNvPr>
          <p:cNvSpPr txBox="1"/>
          <p:nvPr/>
        </p:nvSpPr>
        <p:spPr>
          <a:xfrm>
            <a:off x="8096365" y="1229653"/>
            <a:ext cx="965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1">
                <a:solidFill>
                  <a:srgbClr val="C00000"/>
                </a:solidFill>
                <a:latin typeface="Aptos" panose="02110004020202020204"/>
              </a:rPr>
              <a:t>Relationship</a:t>
            </a:r>
          </a:p>
        </p:txBody>
      </p:sp>
    </p:spTree>
    <p:extLst>
      <p:ext uri="{BB962C8B-B14F-4D97-AF65-F5344CB8AC3E}">
        <p14:creationId xmlns:p14="http://schemas.microsoft.com/office/powerpoint/2010/main" val="217735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C8F11A2-6A0C-4FEC-691C-55C7653E864E}"/>
              </a:ext>
            </a:extLst>
          </p:cNvPr>
          <p:cNvSpPr>
            <a:spLocks/>
          </p:cNvSpPr>
          <p:nvPr/>
        </p:nvSpPr>
        <p:spPr>
          <a:xfrm>
            <a:off x="5853479" y="4384748"/>
            <a:ext cx="2389006" cy="1773100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COMPOSITION</a:t>
            </a: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5575F66-30F2-91FF-2FDB-E0B546CC7A47}"/>
              </a:ext>
            </a:extLst>
          </p:cNvPr>
          <p:cNvSpPr>
            <a:spLocks/>
          </p:cNvSpPr>
          <p:nvPr/>
        </p:nvSpPr>
        <p:spPr>
          <a:xfrm>
            <a:off x="6158743" y="4807335"/>
            <a:ext cx="1812322" cy="365125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1</a:t>
            </a:r>
            <a:b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(constrained by Archetype)</a:t>
            </a: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37A8546-2136-CFAB-34B0-233F5FF6D22C}"/>
              </a:ext>
            </a:extLst>
          </p:cNvPr>
          <p:cNvSpPr>
            <a:spLocks/>
          </p:cNvSpPr>
          <p:nvPr/>
        </p:nvSpPr>
        <p:spPr>
          <a:xfrm>
            <a:off x="6158743" y="5326933"/>
            <a:ext cx="1812322" cy="365125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2</a:t>
            </a:r>
            <a:b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(constrained by Archetype)</a:t>
            </a: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1E94269-7820-4A45-580F-28C1AE391095}"/>
              </a:ext>
            </a:extLst>
          </p:cNvPr>
          <p:cNvSpPr>
            <a:spLocks/>
          </p:cNvSpPr>
          <p:nvPr/>
        </p:nvSpPr>
        <p:spPr>
          <a:xfrm>
            <a:off x="2999120" y="4517654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 1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0E86F7B-17E1-1FD6-ADE9-998ABBB4F4AB}"/>
              </a:ext>
            </a:extLst>
          </p:cNvPr>
          <p:cNvSpPr>
            <a:spLocks/>
          </p:cNvSpPr>
          <p:nvPr/>
        </p:nvSpPr>
        <p:spPr>
          <a:xfrm>
            <a:off x="2999120" y="5057017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 2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B3DBEE9-7087-3077-D52B-017E5B547806}"/>
              </a:ext>
            </a:extLst>
          </p:cNvPr>
          <p:cNvSpPr>
            <a:spLocks/>
          </p:cNvSpPr>
          <p:nvPr/>
        </p:nvSpPr>
        <p:spPr>
          <a:xfrm>
            <a:off x="9088508" y="4517654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1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71AFE7F-C798-1A1C-ECCD-C421579B0FAF}"/>
              </a:ext>
            </a:extLst>
          </p:cNvPr>
          <p:cNvSpPr>
            <a:spLocks/>
          </p:cNvSpPr>
          <p:nvPr/>
        </p:nvSpPr>
        <p:spPr>
          <a:xfrm>
            <a:off x="9088508" y="5081370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2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F27C212-63F1-5526-98DA-9D383457E93B}"/>
              </a:ext>
            </a:extLst>
          </p:cNvPr>
          <p:cNvSpPr>
            <a:spLocks/>
          </p:cNvSpPr>
          <p:nvPr/>
        </p:nvSpPr>
        <p:spPr>
          <a:xfrm>
            <a:off x="9088508" y="5645087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of Care 3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6819F8F-907F-225A-2DDC-5A6F3C34CDB5}"/>
              </a:ext>
            </a:extLst>
          </p:cNvPr>
          <p:cNvSpPr>
            <a:spLocks/>
          </p:cNvSpPr>
          <p:nvPr/>
        </p:nvSpPr>
        <p:spPr>
          <a:xfrm>
            <a:off x="2999120" y="5645087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 3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9235DB7-BA1E-59BF-14E0-572B6BD88D88}"/>
              </a:ext>
            </a:extLst>
          </p:cNvPr>
          <p:cNvSpPr/>
          <p:nvPr/>
        </p:nvSpPr>
        <p:spPr>
          <a:xfrm>
            <a:off x="2868291" y="77002"/>
            <a:ext cx="9260209" cy="4066863"/>
          </a:xfrm>
          <a:prstGeom prst="rect">
            <a:avLst/>
          </a:prstGeom>
          <a:solidFill>
            <a:srgbClr val="DBE8FC"/>
          </a:solidFill>
          <a:ln w="3175">
            <a:solidFill>
              <a:srgbClr val="7193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A7CB81D-3A3F-428C-0796-14834ECE587A}"/>
              </a:ext>
            </a:extLst>
          </p:cNvPr>
          <p:cNvSpPr/>
          <p:nvPr/>
        </p:nvSpPr>
        <p:spPr>
          <a:xfrm>
            <a:off x="988445" y="222231"/>
            <a:ext cx="1131364" cy="741332"/>
          </a:xfrm>
          <a:prstGeom prst="rect">
            <a:avLst/>
          </a:prstGeom>
          <a:solidFill>
            <a:srgbClr val="DBE8FC"/>
          </a:solidFill>
          <a:ln w="3175">
            <a:solidFill>
              <a:srgbClr val="7193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EHR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6A4F78B-E29E-D936-E622-494A345FFB5B}"/>
              </a:ext>
            </a:extLst>
          </p:cNvPr>
          <p:cNvSpPr/>
          <p:nvPr/>
        </p:nvSpPr>
        <p:spPr>
          <a:xfrm>
            <a:off x="6198848" y="281223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(root)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8676EB2-7058-7A85-5E90-717F95C47158}"/>
              </a:ext>
            </a:extLst>
          </p:cNvPr>
          <p:cNvSpPr/>
          <p:nvPr/>
        </p:nvSpPr>
        <p:spPr>
          <a:xfrm>
            <a:off x="3117052" y="1141526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09C6477-524E-E56D-1C02-C6AA8100726B}"/>
              </a:ext>
            </a:extLst>
          </p:cNvPr>
          <p:cNvSpPr/>
          <p:nvPr/>
        </p:nvSpPr>
        <p:spPr>
          <a:xfrm>
            <a:off x="6198848" y="1141526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Sections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389EF70-E69B-9759-CCB4-AD4164367F2B}"/>
              </a:ext>
            </a:extLst>
          </p:cNvPr>
          <p:cNvSpPr/>
          <p:nvPr/>
        </p:nvSpPr>
        <p:spPr>
          <a:xfrm>
            <a:off x="8912473" y="1141526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47BAE72-ABA9-DE41-678E-3DF79EFCEF52}"/>
              </a:ext>
            </a:extLst>
          </p:cNvPr>
          <p:cNvSpPr/>
          <p:nvPr/>
        </p:nvSpPr>
        <p:spPr>
          <a:xfrm>
            <a:off x="3766195" y="1863633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1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E7B4FCC-F71F-B9AB-BC1B-B4CA4BA15831}"/>
              </a:ext>
            </a:extLst>
          </p:cNvPr>
          <p:cNvSpPr/>
          <p:nvPr/>
        </p:nvSpPr>
        <p:spPr>
          <a:xfrm>
            <a:off x="3766195" y="2539200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2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EC69651-EEC7-DEFF-8023-1D32033E122D}"/>
              </a:ext>
            </a:extLst>
          </p:cNvPr>
          <p:cNvSpPr/>
          <p:nvPr/>
        </p:nvSpPr>
        <p:spPr>
          <a:xfrm>
            <a:off x="6869348" y="1863633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1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1E1B92C-62CA-4D9B-C8E9-2EABB55866D5}"/>
              </a:ext>
            </a:extLst>
          </p:cNvPr>
          <p:cNvSpPr/>
          <p:nvPr/>
        </p:nvSpPr>
        <p:spPr>
          <a:xfrm>
            <a:off x="6869348" y="2539199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2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16EE045-90A8-1169-4377-D3A28A2CD968}"/>
              </a:ext>
            </a:extLst>
          </p:cNvPr>
          <p:cNvSpPr/>
          <p:nvPr/>
        </p:nvSpPr>
        <p:spPr>
          <a:xfrm>
            <a:off x="9595735" y="1860924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1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EE8E4D6-A3F8-D4E0-8D14-6BA7B40E2DDA}"/>
              </a:ext>
            </a:extLst>
          </p:cNvPr>
          <p:cNvSpPr/>
          <p:nvPr/>
        </p:nvSpPr>
        <p:spPr>
          <a:xfrm>
            <a:off x="9595735" y="2537844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2</a:t>
            </a:r>
          </a:p>
        </p:txBody>
      </p:sp>
      <p:cxnSp>
        <p:nvCxnSpPr>
          <p:cNvPr id="33" name="Gewinkelte Verbindung 32">
            <a:extLst>
              <a:ext uri="{FF2B5EF4-FFF2-40B4-BE49-F238E27FC236}">
                <a16:creationId xmlns:a16="http://schemas.microsoft.com/office/drawing/2014/main" id="{78BF77EA-1798-36FE-C5F6-0F4783CCF347}"/>
              </a:ext>
            </a:extLst>
          </p:cNvPr>
          <p:cNvCxnSpPr>
            <a:cxnSpLocks/>
            <a:stCxn id="24" idx="3"/>
            <a:endCxn id="10" idx="3"/>
          </p:cNvCxnSpPr>
          <p:nvPr/>
        </p:nvCxnSpPr>
        <p:spPr>
          <a:xfrm>
            <a:off x="4832995" y="2831627"/>
            <a:ext cx="12700" cy="2438013"/>
          </a:xfrm>
          <a:prstGeom prst="bentConnector3">
            <a:avLst>
              <a:gd name="adj1" fmla="val 1722583"/>
            </a:avLst>
          </a:prstGeom>
          <a:ln>
            <a:solidFill>
              <a:srgbClr val="008C93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3D096781-FBAC-2483-8F0C-467E59C173AD}"/>
              </a:ext>
            </a:extLst>
          </p:cNvPr>
          <p:cNvSpPr/>
          <p:nvPr/>
        </p:nvSpPr>
        <p:spPr>
          <a:xfrm>
            <a:off x="3766195" y="3214766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3</a:t>
            </a:r>
          </a:p>
        </p:txBody>
      </p:sp>
      <p:cxnSp>
        <p:nvCxnSpPr>
          <p:cNvPr id="40" name="Gewinkelte Verbindung 39">
            <a:extLst>
              <a:ext uri="{FF2B5EF4-FFF2-40B4-BE49-F238E27FC236}">
                <a16:creationId xmlns:a16="http://schemas.microsoft.com/office/drawing/2014/main" id="{CA604CD1-A7BA-FF95-63C5-16287B1FBD10}"/>
              </a:ext>
            </a:extLst>
          </p:cNvPr>
          <p:cNvCxnSpPr>
            <a:cxnSpLocks/>
            <a:stCxn id="39" idx="3"/>
            <a:endCxn id="14" idx="3"/>
          </p:cNvCxnSpPr>
          <p:nvPr/>
        </p:nvCxnSpPr>
        <p:spPr>
          <a:xfrm>
            <a:off x="4832995" y="3507193"/>
            <a:ext cx="12700" cy="2350517"/>
          </a:xfrm>
          <a:prstGeom prst="bentConnector3">
            <a:avLst>
              <a:gd name="adj1" fmla="val 2177323"/>
            </a:avLst>
          </a:prstGeom>
          <a:ln>
            <a:solidFill>
              <a:srgbClr val="008C93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Gewinkelte Verbindung 44">
            <a:extLst>
              <a:ext uri="{FF2B5EF4-FFF2-40B4-BE49-F238E27FC236}">
                <a16:creationId xmlns:a16="http://schemas.microsoft.com/office/drawing/2014/main" id="{81C466A2-F3E7-7D7E-7C35-75FCAA7BDD7A}"/>
              </a:ext>
            </a:extLst>
          </p:cNvPr>
          <p:cNvCxnSpPr>
            <a:cxnSpLocks/>
            <a:stCxn id="23" idx="3"/>
            <a:endCxn id="9" idx="3"/>
          </p:cNvCxnSpPr>
          <p:nvPr/>
        </p:nvCxnSpPr>
        <p:spPr>
          <a:xfrm>
            <a:off x="4832995" y="2156060"/>
            <a:ext cx="12700" cy="2574217"/>
          </a:xfrm>
          <a:prstGeom prst="bentConnector3">
            <a:avLst>
              <a:gd name="adj1" fmla="val 1269472"/>
            </a:avLst>
          </a:prstGeom>
          <a:ln>
            <a:solidFill>
              <a:srgbClr val="008C93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6A1F805B-25EC-FBEC-60C5-B00F34F9937A}"/>
              </a:ext>
            </a:extLst>
          </p:cNvPr>
          <p:cNvSpPr/>
          <p:nvPr/>
        </p:nvSpPr>
        <p:spPr>
          <a:xfrm>
            <a:off x="6869348" y="3214765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n</a:t>
            </a:r>
          </a:p>
        </p:txBody>
      </p:sp>
      <p:cxnSp>
        <p:nvCxnSpPr>
          <p:cNvPr id="52" name="Gewinkelte Verbindung 51">
            <a:extLst>
              <a:ext uri="{FF2B5EF4-FFF2-40B4-BE49-F238E27FC236}">
                <a16:creationId xmlns:a16="http://schemas.microsoft.com/office/drawing/2014/main" id="{E3C724CA-D130-489C-19F7-72AFB7C0AA70}"/>
              </a:ext>
            </a:extLst>
          </p:cNvPr>
          <p:cNvCxnSpPr>
            <a:cxnSpLocks/>
            <a:stCxn id="23" idx="3"/>
            <a:endCxn id="6" idx="1"/>
          </p:cNvCxnSpPr>
          <p:nvPr/>
        </p:nvCxnSpPr>
        <p:spPr>
          <a:xfrm>
            <a:off x="4832995" y="2156060"/>
            <a:ext cx="1020484" cy="3115238"/>
          </a:xfrm>
          <a:prstGeom prst="bentConnector3">
            <a:avLst>
              <a:gd name="adj1" fmla="val 66257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Gewinkelte Verbindung 56">
            <a:extLst>
              <a:ext uri="{FF2B5EF4-FFF2-40B4-BE49-F238E27FC236}">
                <a16:creationId xmlns:a16="http://schemas.microsoft.com/office/drawing/2014/main" id="{DF39B697-B38E-2741-D6D5-67273203B900}"/>
              </a:ext>
            </a:extLst>
          </p:cNvPr>
          <p:cNvCxnSpPr>
            <a:cxnSpLocks/>
            <a:stCxn id="25" idx="1"/>
            <a:endCxn id="7" idx="1"/>
          </p:cNvCxnSpPr>
          <p:nvPr/>
        </p:nvCxnSpPr>
        <p:spPr>
          <a:xfrm rot="10800000" flipV="1">
            <a:off x="6158744" y="2156060"/>
            <a:ext cx="710605" cy="2833838"/>
          </a:xfrm>
          <a:prstGeom prst="bentConnector3">
            <a:avLst>
              <a:gd name="adj1" fmla="val 132170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Gewinkelte Verbindung 59">
            <a:extLst>
              <a:ext uri="{FF2B5EF4-FFF2-40B4-BE49-F238E27FC236}">
                <a16:creationId xmlns:a16="http://schemas.microsoft.com/office/drawing/2014/main" id="{6ED9815C-3CA8-AA53-44AC-2D0222D0085D}"/>
              </a:ext>
            </a:extLst>
          </p:cNvPr>
          <p:cNvCxnSpPr>
            <a:cxnSpLocks/>
            <a:stCxn id="26" idx="1"/>
            <a:endCxn id="8" idx="1"/>
          </p:cNvCxnSpPr>
          <p:nvPr/>
        </p:nvCxnSpPr>
        <p:spPr>
          <a:xfrm rot="10800000" flipV="1">
            <a:off x="6158744" y="2831626"/>
            <a:ext cx="710605" cy="2677870"/>
          </a:xfrm>
          <a:prstGeom prst="bentConnector3">
            <a:avLst>
              <a:gd name="adj1" fmla="val 121101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Gewinkelte Verbindung 80">
            <a:extLst>
              <a:ext uri="{FF2B5EF4-FFF2-40B4-BE49-F238E27FC236}">
                <a16:creationId xmlns:a16="http://schemas.microsoft.com/office/drawing/2014/main" id="{A5D38BCC-A52A-CF7D-EDAA-8CC58F2470DF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rot="5400000">
            <a:off x="5053625" y="-537097"/>
            <a:ext cx="275450" cy="308179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winkelte Verbindung 83">
            <a:extLst>
              <a:ext uri="{FF2B5EF4-FFF2-40B4-BE49-F238E27FC236}">
                <a16:creationId xmlns:a16="http://schemas.microsoft.com/office/drawing/2014/main" id="{C7E0DA09-84F7-3BDC-9C72-9C5EB17F579A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rot="16200000" flipH="1">
            <a:off x="7951335" y="-353012"/>
            <a:ext cx="275450" cy="27136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90">
            <a:extLst>
              <a:ext uri="{FF2B5EF4-FFF2-40B4-BE49-F238E27FC236}">
                <a16:creationId xmlns:a16="http://schemas.microsoft.com/office/drawing/2014/main" id="{387E7DCC-8074-9077-FAFE-E62291EE32DD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>
            <a:off x="6732248" y="866076"/>
            <a:ext cx="0" cy="2754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winkelte Verbindung 91">
            <a:extLst>
              <a:ext uri="{FF2B5EF4-FFF2-40B4-BE49-F238E27FC236}">
                <a16:creationId xmlns:a16="http://schemas.microsoft.com/office/drawing/2014/main" id="{06C92EF1-26D1-512B-9229-C2CA3324B2B4}"/>
              </a:ext>
            </a:extLst>
          </p:cNvPr>
          <p:cNvCxnSpPr>
            <a:cxnSpLocks/>
            <a:stCxn id="27" idx="1"/>
            <a:endCxn id="7" idx="3"/>
          </p:cNvCxnSpPr>
          <p:nvPr/>
        </p:nvCxnSpPr>
        <p:spPr>
          <a:xfrm rot="10800000" flipV="1">
            <a:off x="7971065" y="2153350"/>
            <a:ext cx="1624670" cy="2836547"/>
          </a:xfrm>
          <a:prstGeom prst="bentConnector3">
            <a:avLst>
              <a:gd name="adj1" fmla="val 55446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Gewinkelte Verbindung 94">
            <a:extLst>
              <a:ext uri="{FF2B5EF4-FFF2-40B4-BE49-F238E27FC236}">
                <a16:creationId xmlns:a16="http://schemas.microsoft.com/office/drawing/2014/main" id="{A49DD455-DF7D-FA77-E095-F4EF7E6D9A1F}"/>
              </a:ext>
            </a:extLst>
          </p:cNvPr>
          <p:cNvCxnSpPr>
            <a:cxnSpLocks/>
            <a:stCxn id="28" idx="1"/>
            <a:endCxn id="8" idx="3"/>
          </p:cNvCxnSpPr>
          <p:nvPr/>
        </p:nvCxnSpPr>
        <p:spPr>
          <a:xfrm rot="10800000" flipV="1">
            <a:off x="7971065" y="2830270"/>
            <a:ext cx="1624670" cy="2679225"/>
          </a:xfrm>
          <a:prstGeom prst="bentConnector3">
            <a:avLst>
              <a:gd name="adj1" fmla="val 50605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Gewinkelte Verbindung 105">
            <a:extLst>
              <a:ext uri="{FF2B5EF4-FFF2-40B4-BE49-F238E27FC236}">
                <a16:creationId xmlns:a16="http://schemas.microsoft.com/office/drawing/2014/main" id="{09307AEE-FE13-A311-4BD6-F91D6B7B4690}"/>
              </a:ext>
            </a:extLst>
          </p:cNvPr>
          <p:cNvCxnSpPr>
            <a:cxnSpLocks/>
            <a:stCxn id="27" idx="3"/>
            <a:endCxn id="11" idx="3"/>
          </p:cNvCxnSpPr>
          <p:nvPr/>
        </p:nvCxnSpPr>
        <p:spPr>
          <a:xfrm>
            <a:off x="10662535" y="2153351"/>
            <a:ext cx="815407" cy="2595136"/>
          </a:xfrm>
          <a:prstGeom prst="bentConnector3">
            <a:avLst>
              <a:gd name="adj1" fmla="val 136476"/>
            </a:avLst>
          </a:prstGeom>
          <a:ln>
            <a:solidFill>
              <a:srgbClr val="B44B74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Gewinkelte Verbindung 109">
            <a:extLst>
              <a:ext uri="{FF2B5EF4-FFF2-40B4-BE49-F238E27FC236}">
                <a16:creationId xmlns:a16="http://schemas.microsoft.com/office/drawing/2014/main" id="{3BA8726C-98DF-9BD1-2ED4-BD27AD18E9B1}"/>
              </a:ext>
            </a:extLst>
          </p:cNvPr>
          <p:cNvCxnSpPr>
            <a:cxnSpLocks/>
            <a:stCxn id="28" idx="3"/>
            <a:endCxn id="12" idx="3"/>
          </p:cNvCxnSpPr>
          <p:nvPr/>
        </p:nvCxnSpPr>
        <p:spPr>
          <a:xfrm>
            <a:off x="10662535" y="2830271"/>
            <a:ext cx="815407" cy="2481932"/>
          </a:xfrm>
          <a:prstGeom prst="bentConnector3">
            <a:avLst>
              <a:gd name="adj1" fmla="val 128035"/>
            </a:avLst>
          </a:prstGeom>
          <a:ln>
            <a:solidFill>
              <a:srgbClr val="B44B74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3" name="Rechteck 112">
            <a:extLst>
              <a:ext uri="{FF2B5EF4-FFF2-40B4-BE49-F238E27FC236}">
                <a16:creationId xmlns:a16="http://schemas.microsoft.com/office/drawing/2014/main" id="{B629ED65-EB9F-76E4-2BA6-0FF62D450FAF}"/>
              </a:ext>
            </a:extLst>
          </p:cNvPr>
          <p:cNvSpPr/>
          <p:nvPr/>
        </p:nvSpPr>
        <p:spPr>
          <a:xfrm>
            <a:off x="9595735" y="3214764"/>
            <a:ext cx="1066800" cy="584853"/>
          </a:xfrm>
          <a:prstGeom prst="rect">
            <a:avLst/>
          </a:prstGeom>
          <a:solidFill>
            <a:srgbClr val="B1DEF1"/>
          </a:solidFill>
          <a:ln w="3175">
            <a:solidFill>
              <a:srgbClr val="1A7B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</a:p>
          <a:p>
            <a:pPr algn="ctr"/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3</a:t>
            </a:r>
          </a:p>
        </p:txBody>
      </p:sp>
      <p:cxnSp>
        <p:nvCxnSpPr>
          <p:cNvPr id="116" name="Gewinkelte Verbindung 115">
            <a:extLst>
              <a:ext uri="{FF2B5EF4-FFF2-40B4-BE49-F238E27FC236}">
                <a16:creationId xmlns:a16="http://schemas.microsoft.com/office/drawing/2014/main" id="{70BA4F9A-D755-D078-9E47-C4263BD32486}"/>
              </a:ext>
            </a:extLst>
          </p:cNvPr>
          <p:cNvCxnSpPr>
            <a:cxnSpLocks/>
            <a:stCxn id="113" idx="3"/>
            <a:endCxn id="13" idx="3"/>
          </p:cNvCxnSpPr>
          <p:nvPr/>
        </p:nvCxnSpPr>
        <p:spPr>
          <a:xfrm>
            <a:off x="10662535" y="3507191"/>
            <a:ext cx="815407" cy="2368729"/>
          </a:xfrm>
          <a:prstGeom prst="bentConnector3">
            <a:avLst>
              <a:gd name="adj1" fmla="val 120800"/>
            </a:avLst>
          </a:prstGeom>
          <a:ln>
            <a:solidFill>
              <a:srgbClr val="B44B74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Gerade Verbindung 129">
            <a:extLst>
              <a:ext uri="{FF2B5EF4-FFF2-40B4-BE49-F238E27FC236}">
                <a16:creationId xmlns:a16="http://schemas.microsoft.com/office/drawing/2014/main" id="{A1519550-6D26-D044-C947-3F87B0DF5375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6732248" y="1726379"/>
            <a:ext cx="0" cy="159433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132">
            <a:extLst>
              <a:ext uri="{FF2B5EF4-FFF2-40B4-BE49-F238E27FC236}">
                <a16:creationId xmlns:a16="http://schemas.microsoft.com/office/drawing/2014/main" id="{38ED4153-4AD4-A069-47AE-DB2973B5F3CE}"/>
              </a:ext>
            </a:extLst>
          </p:cNvPr>
          <p:cNvCxnSpPr>
            <a:cxnSpLocks/>
          </p:cNvCxnSpPr>
          <p:nvPr/>
        </p:nvCxnSpPr>
        <p:spPr>
          <a:xfrm flipV="1">
            <a:off x="3621576" y="1726379"/>
            <a:ext cx="1" cy="159433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Gerade Verbindung 135">
            <a:extLst>
              <a:ext uri="{FF2B5EF4-FFF2-40B4-BE49-F238E27FC236}">
                <a16:creationId xmlns:a16="http://schemas.microsoft.com/office/drawing/2014/main" id="{A67F518C-7F79-F974-261B-B3F477826D1C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9445873" y="1726379"/>
            <a:ext cx="0" cy="159433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 Verbindung 139">
            <a:extLst>
              <a:ext uri="{FF2B5EF4-FFF2-40B4-BE49-F238E27FC236}">
                <a16:creationId xmlns:a16="http://schemas.microsoft.com/office/drawing/2014/main" id="{D631C2E4-79DF-1F7D-0573-42E1EC2AE0FE}"/>
              </a:ext>
            </a:extLst>
          </p:cNvPr>
          <p:cNvCxnSpPr>
            <a:cxnSpLocks/>
          </p:cNvCxnSpPr>
          <p:nvPr/>
        </p:nvCxnSpPr>
        <p:spPr>
          <a:xfrm>
            <a:off x="6725159" y="1957290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 Verbindung 141">
            <a:extLst>
              <a:ext uri="{FF2B5EF4-FFF2-40B4-BE49-F238E27FC236}">
                <a16:creationId xmlns:a16="http://schemas.microsoft.com/office/drawing/2014/main" id="{6D46315A-E426-9846-4747-3EB4B7BA5DA8}"/>
              </a:ext>
            </a:extLst>
          </p:cNvPr>
          <p:cNvCxnSpPr>
            <a:cxnSpLocks/>
          </p:cNvCxnSpPr>
          <p:nvPr/>
        </p:nvCxnSpPr>
        <p:spPr>
          <a:xfrm>
            <a:off x="3615971" y="3312305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Gerade Verbindung 142">
            <a:extLst>
              <a:ext uri="{FF2B5EF4-FFF2-40B4-BE49-F238E27FC236}">
                <a16:creationId xmlns:a16="http://schemas.microsoft.com/office/drawing/2014/main" id="{0CCE2C08-F9F7-1C8B-AF1A-B0848DC8C0E8}"/>
              </a:ext>
            </a:extLst>
          </p:cNvPr>
          <p:cNvCxnSpPr>
            <a:cxnSpLocks/>
          </p:cNvCxnSpPr>
          <p:nvPr/>
        </p:nvCxnSpPr>
        <p:spPr>
          <a:xfrm>
            <a:off x="3615971" y="2610743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Gerade Verbindung 143">
            <a:extLst>
              <a:ext uri="{FF2B5EF4-FFF2-40B4-BE49-F238E27FC236}">
                <a16:creationId xmlns:a16="http://schemas.microsoft.com/office/drawing/2014/main" id="{EC07D255-1AFD-CEE3-9E6F-E64E7B68BE18}"/>
              </a:ext>
            </a:extLst>
          </p:cNvPr>
          <p:cNvCxnSpPr>
            <a:cxnSpLocks/>
          </p:cNvCxnSpPr>
          <p:nvPr/>
        </p:nvCxnSpPr>
        <p:spPr>
          <a:xfrm>
            <a:off x="3621576" y="1955068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144">
            <a:extLst>
              <a:ext uri="{FF2B5EF4-FFF2-40B4-BE49-F238E27FC236}">
                <a16:creationId xmlns:a16="http://schemas.microsoft.com/office/drawing/2014/main" id="{02819451-D81B-03A2-CC31-413E1CEFE6BA}"/>
              </a:ext>
            </a:extLst>
          </p:cNvPr>
          <p:cNvCxnSpPr>
            <a:cxnSpLocks/>
          </p:cNvCxnSpPr>
          <p:nvPr/>
        </p:nvCxnSpPr>
        <p:spPr>
          <a:xfrm>
            <a:off x="6732247" y="2609420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145">
            <a:extLst>
              <a:ext uri="{FF2B5EF4-FFF2-40B4-BE49-F238E27FC236}">
                <a16:creationId xmlns:a16="http://schemas.microsoft.com/office/drawing/2014/main" id="{2FBBAE0B-0C07-9254-D103-FF9B187C96D4}"/>
              </a:ext>
            </a:extLst>
          </p:cNvPr>
          <p:cNvCxnSpPr>
            <a:cxnSpLocks/>
          </p:cNvCxnSpPr>
          <p:nvPr/>
        </p:nvCxnSpPr>
        <p:spPr>
          <a:xfrm>
            <a:off x="6732247" y="3307438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erade Verbindung 146">
            <a:extLst>
              <a:ext uri="{FF2B5EF4-FFF2-40B4-BE49-F238E27FC236}">
                <a16:creationId xmlns:a16="http://schemas.microsoft.com/office/drawing/2014/main" id="{C59B26A3-C873-3CD9-CDE8-B9BDA5003109}"/>
              </a:ext>
            </a:extLst>
          </p:cNvPr>
          <p:cNvCxnSpPr>
            <a:cxnSpLocks/>
          </p:cNvCxnSpPr>
          <p:nvPr/>
        </p:nvCxnSpPr>
        <p:spPr>
          <a:xfrm>
            <a:off x="9445873" y="3319393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147">
            <a:extLst>
              <a:ext uri="{FF2B5EF4-FFF2-40B4-BE49-F238E27FC236}">
                <a16:creationId xmlns:a16="http://schemas.microsoft.com/office/drawing/2014/main" id="{229E7501-8F2C-D774-CAE6-5B4200754D7F}"/>
              </a:ext>
            </a:extLst>
          </p:cNvPr>
          <p:cNvCxnSpPr>
            <a:cxnSpLocks/>
          </p:cNvCxnSpPr>
          <p:nvPr/>
        </p:nvCxnSpPr>
        <p:spPr>
          <a:xfrm>
            <a:off x="9447356" y="2667450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148">
            <a:extLst>
              <a:ext uri="{FF2B5EF4-FFF2-40B4-BE49-F238E27FC236}">
                <a16:creationId xmlns:a16="http://schemas.microsoft.com/office/drawing/2014/main" id="{5828E9F4-4EAE-62C5-CAED-8F0AE0398289}"/>
              </a:ext>
            </a:extLst>
          </p:cNvPr>
          <p:cNvCxnSpPr>
            <a:cxnSpLocks/>
          </p:cNvCxnSpPr>
          <p:nvPr/>
        </p:nvCxnSpPr>
        <p:spPr>
          <a:xfrm>
            <a:off x="9445873" y="1955068"/>
            <a:ext cx="16015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Gerade Verbindung 153">
            <a:extLst>
              <a:ext uri="{FF2B5EF4-FFF2-40B4-BE49-F238E27FC236}">
                <a16:creationId xmlns:a16="http://schemas.microsoft.com/office/drawing/2014/main" id="{C35FF2CF-BDBD-2751-F891-6AC1A75E66A5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2119809" y="573650"/>
            <a:ext cx="4079039" cy="1924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feld 158">
            <a:extLst>
              <a:ext uri="{FF2B5EF4-FFF2-40B4-BE49-F238E27FC236}">
                <a16:creationId xmlns:a16="http://schemas.microsoft.com/office/drawing/2014/main" id="{F3F18759-7B15-5C15-BEF1-1D0D2DE13E84}"/>
              </a:ext>
            </a:extLst>
          </p:cNvPr>
          <p:cNvSpPr txBox="1"/>
          <p:nvPr/>
        </p:nvSpPr>
        <p:spPr>
          <a:xfrm>
            <a:off x="2094554" y="598946"/>
            <a:ext cx="1153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noProof="1">
                <a:solidFill>
                  <a:schemeClr val="bg1">
                    <a:lumMod val="50000"/>
                  </a:schemeClr>
                </a:solidFill>
                <a:latin typeface="Aptos" panose="02110004020202020204"/>
              </a:rPr>
              <a:t>directory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16A55F0F-D8D3-2D63-397D-FE7FAE0AF987}"/>
              </a:ext>
            </a:extLst>
          </p:cNvPr>
          <p:cNvSpPr txBox="1"/>
          <p:nvPr/>
        </p:nvSpPr>
        <p:spPr>
          <a:xfrm>
            <a:off x="2094554" y="349700"/>
            <a:ext cx="1153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noProof="1">
                <a:solidFill>
                  <a:schemeClr val="bg1">
                    <a:lumMod val="50000"/>
                  </a:schemeClr>
                </a:solidFill>
                <a:latin typeface="Aptos" panose="02110004020202020204"/>
              </a:rPr>
              <a:t>folders [ [1]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A3D61F09-A3DE-3064-FE55-19DBA38C9D13}"/>
              </a:ext>
            </a:extLst>
          </p:cNvPr>
          <p:cNvSpPr txBox="1"/>
          <p:nvPr/>
        </p:nvSpPr>
        <p:spPr>
          <a:xfrm rot="16200000">
            <a:off x="3848122" y="2658109"/>
            <a:ext cx="2733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noProof="1">
                <a:solidFill>
                  <a:srgbClr val="008C93"/>
                </a:solidFill>
                <a:latin typeface="Aptos" panose="02110004020202020204"/>
              </a:rPr>
              <a:t>details - link to COMPOSITION</a:t>
            </a:r>
          </a:p>
        </p:txBody>
      </p:sp>
      <p:sp>
        <p:nvSpPr>
          <p:cNvPr id="177" name="Textfeld 176">
            <a:extLst>
              <a:ext uri="{FF2B5EF4-FFF2-40B4-BE49-F238E27FC236}">
                <a16:creationId xmlns:a16="http://schemas.microsoft.com/office/drawing/2014/main" id="{CC23C7FE-0C14-D05C-AF55-A5B4B85EF01A}"/>
              </a:ext>
            </a:extLst>
          </p:cNvPr>
          <p:cNvSpPr txBox="1"/>
          <p:nvPr/>
        </p:nvSpPr>
        <p:spPr>
          <a:xfrm rot="16200000">
            <a:off x="7186271" y="2669292"/>
            <a:ext cx="2733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noProof="1">
                <a:solidFill>
                  <a:srgbClr val="8BA9CA"/>
                </a:solidFill>
                <a:latin typeface="Aptos" panose="02110004020202020204"/>
              </a:rPr>
              <a:t>details - links to ENTRY</a:t>
            </a:r>
          </a:p>
        </p:txBody>
      </p:sp>
      <p:sp>
        <p:nvSpPr>
          <p:cNvPr id="183" name="Textfeld 182">
            <a:extLst>
              <a:ext uri="{FF2B5EF4-FFF2-40B4-BE49-F238E27FC236}">
                <a16:creationId xmlns:a16="http://schemas.microsoft.com/office/drawing/2014/main" id="{8DAC6D4D-22B9-36BD-2A23-7D166E21B8F8}"/>
              </a:ext>
            </a:extLst>
          </p:cNvPr>
          <p:cNvSpPr txBox="1"/>
          <p:nvPr/>
        </p:nvSpPr>
        <p:spPr>
          <a:xfrm rot="16200000">
            <a:off x="4025011" y="2658109"/>
            <a:ext cx="2733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noProof="1">
                <a:solidFill>
                  <a:srgbClr val="8BA9CA"/>
                </a:solidFill>
                <a:latin typeface="Aptos" panose="02110004020202020204"/>
              </a:rPr>
              <a:t>items - link to COMPOSITION</a:t>
            </a:r>
          </a:p>
        </p:txBody>
      </p:sp>
      <p:sp>
        <p:nvSpPr>
          <p:cNvPr id="186" name="Textfeld 185">
            <a:extLst>
              <a:ext uri="{FF2B5EF4-FFF2-40B4-BE49-F238E27FC236}">
                <a16:creationId xmlns:a16="http://schemas.microsoft.com/office/drawing/2014/main" id="{70B9A2F8-8499-3EE2-D44A-DF19A9C2B9B4}"/>
              </a:ext>
            </a:extLst>
          </p:cNvPr>
          <p:cNvSpPr txBox="1"/>
          <p:nvPr/>
        </p:nvSpPr>
        <p:spPr>
          <a:xfrm rot="16200000">
            <a:off x="4444679" y="2653822"/>
            <a:ext cx="2733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noProof="1">
                <a:solidFill>
                  <a:srgbClr val="8BA9CA"/>
                </a:solidFill>
                <a:latin typeface="Aptos" panose="02110004020202020204"/>
              </a:rPr>
              <a:t>details – link to ENTRY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D9E36713-B154-8E91-C1F9-E2A60CAC8EC1}"/>
              </a:ext>
            </a:extLst>
          </p:cNvPr>
          <p:cNvSpPr txBox="1"/>
          <p:nvPr/>
        </p:nvSpPr>
        <p:spPr>
          <a:xfrm rot="16200000">
            <a:off x="10574296" y="2653822"/>
            <a:ext cx="2733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noProof="1">
                <a:solidFill>
                  <a:srgbClr val="B44B74"/>
                </a:solidFill>
                <a:latin typeface="Aptos" panose="02110004020202020204"/>
              </a:rPr>
              <a:t>details - link to COMPOSITION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FAF7D2E-8B1D-59B6-2761-7F9A491700F2}"/>
              </a:ext>
            </a:extLst>
          </p:cNvPr>
          <p:cNvSpPr/>
          <p:nvPr/>
        </p:nvSpPr>
        <p:spPr>
          <a:xfrm>
            <a:off x="0" y="3966072"/>
            <a:ext cx="683046" cy="2891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959FE25-6130-291D-84FA-5C4E76978D4F}"/>
              </a:ext>
            </a:extLst>
          </p:cNvPr>
          <p:cNvSpPr txBox="1"/>
          <p:nvPr/>
        </p:nvSpPr>
        <p:spPr>
          <a:xfrm>
            <a:off x="6073790" y="4573301"/>
            <a:ext cx="13464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(defined by Template)</a:t>
            </a:r>
          </a:p>
        </p:txBody>
      </p:sp>
    </p:spTree>
    <p:extLst>
      <p:ext uri="{BB962C8B-B14F-4D97-AF65-F5344CB8AC3E}">
        <p14:creationId xmlns:p14="http://schemas.microsoft.com/office/powerpoint/2010/main" val="251738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5321-667F-81C0-5155-4B6FEC9E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feld 63">
            <a:extLst>
              <a:ext uri="{FF2B5EF4-FFF2-40B4-BE49-F238E27FC236}">
                <a16:creationId xmlns:a16="http://schemas.microsoft.com/office/drawing/2014/main" id="{9CCDD048-AF9E-DD9A-C265-917840D9AE7A}"/>
              </a:ext>
            </a:extLst>
          </p:cNvPr>
          <p:cNvSpPr txBox="1"/>
          <p:nvPr/>
        </p:nvSpPr>
        <p:spPr>
          <a:xfrm>
            <a:off x="1199526" y="236289"/>
            <a:ext cx="2075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1">
                <a:solidFill>
                  <a:prstClr val="black"/>
                </a:solidFill>
                <a:latin typeface="Aptos" panose="02110004020202020204"/>
              </a:rPr>
              <a:t>Care Encounter (Contact)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FF892068-B352-ED5C-99B7-0345845EC337}"/>
              </a:ext>
            </a:extLst>
          </p:cNvPr>
          <p:cNvSpPr txBox="1"/>
          <p:nvPr/>
        </p:nvSpPr>
        <p:spPr>
          <a:xfrm>
            <a:off x="5608205" y="236289"/>
            <a:ext cx="2245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1">
                <a:solidFill>
                  <a:prstClr val="black"/>
                </a:solidFill>
                <a:latin typeface="Aptos" panose="02110004020202020204"/>
              </a:rPr>
              <a:t>Clinical Information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C4FA3C1-EF49-5BCF-8C13-A465AACD8720}"/>
              </a:ext>
            </a:extLst>
          </p:cNvPr>
          <p:cNvSpPr>
            <a:spLocks/>
          </p:cNvSpPr>
          <p:nvPr/>
        </p:nvSpPr>
        <p:spPr>
          <a:xfrm>
            <a:off x="1199526" y="1663879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Encounter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2160DE1-2441-86E1-0542-98CFC5805515}"/>
              </a:ext>
            </a:extLst>
          </p:cNvPr>
          <p:cNvSpPr>
            <a:spLocks/>
          </p:cNvSpPr>
          <p:nvPr/>
        </p:nvSpPr>
        <p:spPr>
          <a:xfrm>
            <a:off x="5582914" y="837900"/>
            <a:ext cx="2389006" cy="433212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 </a:t>
            </a: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(defined by Template)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1:n ENTRYs </a:t>
            </a: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(constrained by Archetypes)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9DDF13B7-7947-5D92-9ED1-C3FAE54C0529}"/>
              </a:ext>
            </a:extLst>
          </p:cNvPr>
          <p:cNvSpPr>
            <a:spLocks/>
          </p:cNvSpPr>
          <p:nvPr/>
        </p:nvSpPr>
        <p:spPr>
          <a:xfrm>
            <a:off x="5582914" y="1654556"/>
            <a:ext cx="2389006" cy="433212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1:n ENTRYs</a:t>
            </a:r>
            <a:endParaRPr kumimoji="0" lang="en-GB" sz="10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CF6EEC71-3D5B-5DF7-8725-89F7E9D7E935}"/>
              </a:ext>
            </a:extLst>
          </p:cNvPr>
          <p:cNvSpPr>
            <a:spLocks/>
          </p:cNvSpPr>
          <p:nvPr/>
        </p:nvSpPr>
        <p:spPr>
          <a:xfrm>
            <a:off x="5582914" y="2465872"/>
            <a:ext cx="2389006" cy="433212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1:n ENTRYs</a:t>
            </a:r>
            <a:endParaRPr kumimoji="0" lang="en-GB" sz="10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E9E5A6B8-82B4-D73D-BF8E-07DF5CD7A557}"/>
              </a:ext>
            </a:extLst>
          </p:cNvPr>
          <p:cNvSpPr txBox="1"/>
          <p:nvPr/>
        </p:nvSpPr>
        <p:spPr>
          <a:xfrm>
            <a:off x="3239396" y="4031188"/>
            <a:ext cx="2269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 dirty="0"/>
              <a:t>meaning = documents (LINK-E1i)</a:t>
            </a:r>
          </a:p>
          <a:p>
            <a:r>
              <a:rPr lang="en-GB" sz="1000" dirty="0"/>
              <a:t>type = encounter</a:t>
            </a:r>
          </a:p>
          <a:p>
            <a:r>
              <a:rPr lang="en-GB" sz="1000" dirty="0"/>
              <a:t>target = care encounter COMPOSITION</a:t>
            </a:r>
            <a:endParaRPr lang="de-CH" sz="1000" dirty="0"/>
          </a:p>
        </p:txBody>
      </p:sp>
      <p:cxnSp>
        <p:nvCxnSpPr>
          <p:cNvPr id="77" name="Gewinkelte Verbindung 76">
            <a:extLst>
              <a:ext uri="{FF2B5EF4-FFF2-40B4-BE49-F238E27FC236}">
                <a16:creationId xmlns:a16="http://schemas.microsoft.com/office/drawing/2014/main" id="{E2CBAB75-B850-28C4-869A-ABDD63924FBE}"/>
              </a:ext>
            </a:extLst>
          </p:cNvPr>
          <p:cNvCxnSpPr>
            <a:stCxn id="35" idx="3"/>
            <a:endCxn id="70" idx="1"/>
          </p:cNvCxnSpPr>
          <p:nvPr/>
        </p:nvCxnSpPr>
        <p:spPr>
          <a:xfrm flipV="1">
            <a:off x="3033401" y="1871162"/>
            <a:ext cx="2549513" cy="5340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Gewinkelte Verbindung 77">
            <a:extLst>
              <a:ext uri="{FF2B5EF4-FFF2-40B4-BE49-F238E27FC236}">
                <a16:creationId xmlns:a16="http://schemas.microsoft.com/office/drawing/2014/main" id="{6061E8F5-6783-7102-415A-76D86B74B7B9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3033401" y="1054506"/>
            <a:ext cx="2549513" cy="821996"/>
          </a:xfrm>
          <a:prstGeom prst="bentConnector3">
            <a:avLst>
              <a:gd name="adj1" fmla="val 12838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Gewinkelte Verbindung 80">
            <a:extLst>
              <a:ext uri="{FF2B5EF4-FFF2-40B4-BE49-F238E27FC236}">
                <a16:creationId xmlns:a16="http://schemas.microsoft.com/office/drawing/2014/main" id="{2777FAFF-A23F-F138-2811-9B4DE9F9580A}"/>
              </a:ext>
            </a:extLst>
          </p:cNvPr>
          <p:cNvCxnSpPr>
            <a:cxnSpLocks/>
            <a:stCxn id="35" idx="3"/>
            <a:endCxn id="71" idx="1"/>
          </p:cNvCxnSpPr>
          <p:nvPr/>
        </p:nvCxnSpPr>
        <p:spPr>
          <a:xfrm>
            <a:off x="3033401" y="1876502"/>
            <a:ext cx="2549513" cy="805976"/>
          </a:xfrm>
          <a:prstGeom prst="bentConnector3">
            <a:avLst>
              <a:gd name="adj1" fmla="val 12838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57A93576-8C34-683B-AEDB-95F7D626B68C}"/>
              </a:ext>
            </a:extLst>
          </p:cNvPr>
          <p:cNvSpPr>
            <a:spLocks/>
          </p:cNvSpPr>
          <p:nvPr/>
        </p:nvSpPr>
        <p:spPr>
          <a:xfrm>
            <a:off x="1265628" y="4492452"/>
            <a:ext cx="1833875" cy="425245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Care </a:t>
            </a:r>
            <a:r>
              <a:rPr lang="en-GB" sz="1200" kern="0" noProof="1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ncounter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340A32E8-F675-DB21-BB58-AD976C166025}"/>
              </a:ext>
            </a:extLst>
          </p:cNvPr>
          <p:cNvSpPr>
            <a:spLocks/>
          </p:cNvSpPr>
          <p:nvPr/>
        </p:nvSpPr>
        <p:spPr>
          <a:xfrm>
            <a:off x="5649016" y="3666473"/>
            <a:ext cx="2389006" cy="433212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1:n ENTRY</a:t>
            </a:r>
            <a:endParaRPr kumimoji="0" lang="en-GB" sz="10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30E741A9-4C26-E4E4-554C-BBAC27A28D33}"/>
              </a:ext>
            </a:extLst>
          </p:cNvPr>
          <p:cNvSpPr>
            <a:spLocks/>
          </p:cNvSpPr>
          <p:nvPr/>
        </p:nvSpPr>
        <p:spPr>
          <a:xfrm>
            <a:off x="5649016" y="4483129"/>
            <a:ext cx="2389006" cy="433212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1:n ENTRY</a:t>
            </a:r>
            <a:endParaRPr kumimoji="0" lang="en-GB" sz="10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60EC5DC5-8D7C-B7DC-4CE6-48027E8C00E2}"/>
              </a:ext>
            </a:extLst>
          </p:cNvPr>
          <p:cNvSpPr>
            <a:spLocks/>
          </p:cNvSpPr>
          <p:nvPr/>
        </p:nvSpPr>
        <p:spPr>
          <a:xfrm>
            <a:off x="5649016" y="5323119"/>
            <a:ext cx="2389006" cy="433212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1:n ENTRY</a:t>
            </a:r>
            <a:endParaRPr kumimoji="0" lang="en-GB" sz="10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0" name="Gewinkelte Verbindung 89">
            <a:extLst>
              <a:ext uri="{FF2B5EF4-FFF2-40B4-BE49-F238E27FC236}">
                <a16:creationId xmlns:a16="http://schemas.microsoft.com/office/drawing/2014/main" id="{004497D8-FC36-98D3-3B1E-BF477BB97D7C}"/>
              </a:ext>
            </a:extLst>
          </p:cNvPr>
          <p:cNvCxnSpPr>
            <a:cxnSpLocks/>
            <a:stCxn id="87" idx="1"/>
            <a:endCxn id="86" idx="3"/>
          </p:cNvCxnSpPr>
          <p:nvPr/>
        </p:nvCxnSpPr>
        <p:spPr>
          <a:xfrm rot="10800000" flipV="1">
            <a:off x="3099504" y="3883079"/>
            <a:ext cx="2549513" cy="821996"/>
          </a:xfrm>
          <a:prstGeom prst="bentConnector3">
            <a:avLst>
              <a:gd name="adj1" fmla="val 137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winkelte Verbindung 90">
            <a:extLst>
              <a:ext uri="{FF2B5EF4-FFF2-40B4-BE49-F238E27FC236}">
                <a16:creationId xmlns:a16="http://schemas.microsoft.com/office/drawing/2014/main" id="{525B980D-65FA-ACFD-220A-3D37DEB4FB4C}"/>
              </a:ext>
            </a:extLst>
          </p:cNvPr>
          <p:cNvCxnSpPr>
            <a:cxnSpLocks/>
            <a:stCxn id="88" idx="1"/>
            <a:endCxn id="86" idx="3"/>
          </p:cNvCxnSpPr>
          <p:nvPr/>
        </p:nvCxnSpPr>
        <p:spPr>
          <a:xfrm rot="10800000" flipV="1">
            <a:off x="3099504" y="4699735"/>
            <a:ext cx="2549513" cy="53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winkelte Verbindung 91">
            <a:extLst>
              <a:ext uri="{FF2B5EF4-FFF2-40B4-BE49-F238E27FC236}">
                <a16:creationId xmlns:a16="http://schemas.microsoft.com/office/drawing/2014/main" id="{6003CFEF-64D5-595E-340A-1470A83C2569}"/>
              </a:ext>
            </a:extLst>
          </p:cNvPr>
          <p:cNvCxnSpPr>
            <a:cxnSpLocks/>
            <a:stCxn id="89" idx="1"/>
            <a:endCxn id="86" idx="3"/>
          </p:cNvCxnSpPr>
          <p:nvPr/>
        </p:nvCxnSpPr>
        <p:spPr>
          <a:xfrm rot="10800000">
            <a:off x="3099504" y="4705075"/>
            <a:ext cx="2549513" cy="834650"/>
          </a:xfrm>
          <a:prstGeom prst="bentConnector3">
            <a:avLst>
              <a:gd name="adj1" fmla="val 137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02FFDF52-0556-BB8F-E53C-34BFACB2E0D3}"/>
              </a:ext>
            </a:extLst>
          </p:cNvPr>
          <p:cNvSpPr txBox="1"/>
          <p:nvPr/>
        </p:nvSpPr>
        <p:spPr>
          <a:xfrm>
            <a:off x="3379289" y="1187385"/>
            <a:ext cx="22697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8C93"/>
                </a:solidFill>
                <a:latin typeface="Aptos" panose="02110004020202020204"/>
              </a:defRPr>
            </a:lvl1pPr>
          </a:lstStyle>
          <a:p>
            <a:r>
              <a:rPr lang="en-GB" sz="1000" dirty="0"/>
              <a:t>meaning = documented by (LINK-E1)</a:t>
            </a:r>
          </a:p>
          <a:p>
            <a:r>
              <a:rPr lang="en-GB" sz="1000" dirty="0"/>
              <a:t>type = encounter</a:t>
            </a:r>
          </a:p>
          <a:p>
            <a:r>
              <a:rPr lang="en-GB" sz="1000" dirty="0"/>
              <a:t>target = clinical COMPOSITION</a:t>
            </a:r>
            <a:endParaRPr lang="de-CH" sz="10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D773045-8A77-08F1-8234-C9EFBB8CDBEC}"/>
              </a:ext>
            </a:extLst>
          </p:cNvPr>
          <p:cNvSpPr/>
          <p:nvPr/>
        </p:nvSpPr>
        <p:spPr>
          <a:xfrm>
            <a:off x="0" y="3966072"/>
            <a:ext cx="683046" cy="2891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3764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E57E-9966-AA2A-1B9D-96B17C349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hteck 40">
            <a:extLst>
              <a:ext uri="{FF2B5EF4-FFF2-40B4-BE49-F238E27FC236}">
                <a16:creationId xmlns:a16="http://schemas.microsoft.com/office/drawing/2014/main" id="{D0A80C3B-6C08-8504-65F5-5C71BC93593F}"/>
              </a:ext>
            </a:extLst>
          </p:cNvPr>
          <p:cNvSpPr>
            <a:spLocks/>
          </p:cNvSpPr>
          <p:nvPr/>
        </p:nvSpPr>
        <p:spPr>
          <a:xfrm>
            <a:off x="7229715" y="1256541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1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4D4B144-1D08-907A-CBF2-9F6B67CA9008}"/>
              </a:ext>
            </a:extLst>
          </p:cNvPr>
          <p:cNvSpPr>
            <a:spLocks/>
          </p:cNvSpPr>
          <p:nvPr/>
        </p:nvSpPr>
        <p:spPr>
          <a:xfrm>
            <a:off x="7229715" y="2014979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2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5533F449-0A42-7826-F7E8-167B49383692}"/>
              </a:ext>
            </a:extLst>
          </p:cNvPr>
          <p:cNvSpPr>
            <a:spLocks/>
          </p:cNvSpPr>
          <p:nvPr/>
        </p:nvSpPr>
        <p:spPr>
          <a:xfrm>
            <a:off x="7229715" y="2773417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of Care 3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B19DBD50-7936-F774-9B3D-6CEC85457BC5}"/>
              </a:ext>
            </a:extLst>
          </p:cNvPr>
          <p:cNvSpPr txBox="1"/>
          <p:nvPr/>
        </p:nvSpPr>
        <p:spPr>
          <a:xfrm>
            <a:off x="915011" y="379506"/>
            <a:ext cx="2245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1">
                <a:solidFill>
                  <a:prstClr val="black"/>
                </a:solidFill>
                <a:latin typeface="Aptos" panose="02110004020202020204"/>
              </a:rPr>
              <a:t>Clinical Information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FC2AA9A-C50D-FE05-8A32-1DA641C7E12E}"/>
              </a:ext>
            </a:extLst>
          </p:cNvPr>
          <p:cNvSpPr txBox="1"/>
          <p:nvPr/>
        </p:nvSpPr>
        <p:spPr>
          <a:xfrm>
            <a:off x="7104684" y="379506"/>
            <a:ext cx="2639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1">
                <a:solidFill>
                  <a:prstClr val="black"/>
                </a:solidFill>
                <a:latin typeface="Aptos" panose="02110004020202020204"/>
              </a:rPr>
              <a:t>Episode of Care (Health Problem)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48B4B63-3D2F-9B81-6A52-35B45CEDE5E7}"/>
              </a:ext>
            </a:extLst>
          </p:cNvPr>
          <p:cNvSpPr>
            <a:spLocks/>
          </p:cNvSpPr>
          <p:nvPr/>
        </p:nvSpPr>
        <p:spPr>
          <a:xfrm>
            <a:off x="999888" y="1256541"/>
            <a:ext cx="2389006" cy="1773100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 </a:t>
            </a: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(defined by Template)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0ABCC4D-75A5-61BF-6245-59935BF5AE85}"/>
              </a:ext>
            </a:extLst>
          </p:cNvPr>
          <p:cNvSpPr>
            <a:spLocks/>
          </p:cNvSpPr>
          <p:nvPr/>
        </p:nvSpPr>
        <p:spPr>
          <a:xfrm>
            <a:off x="1071881" y="1679128"/>
            <a:ext cx="2233179" cy="365125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1 </a:t>
            </a: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(constrained by Archetype)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B14D63-3E56-FF26-00D0-1BDB2DE77910}"/>
              </a:ext>
            </a:extLst>
          </p:cNvPr>
          <p:cNvSpPr>
            <a:spLocks/>
          </p:cNvSpPr>
          <p:nvPr/>
        </p:nvSpPr>
        <p:spPr>
          <a:xfrm>
            <a:off x="1071881" y="2198726"/>
            <a:ext cx="2233179" cy="365125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2</a:t>
            </a:r>
            <a:endParaRPr kumimoji="0" lang="en-GB" sz="10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Gewinkelte Verbindung 13">
            <a:extLst>
              <a:ext uri="{FF2B5EF4-FFF2-40B4-BE49-F238E27FC236}">
                <a16:creationId xmlns:a16="http://schemas.microsoft.com/office/drawing/2014/main" id="{76FC8C99-6ACE-2B94-C090-CFF7D55D2FBD}"/>
              </a:ext>
            </a:extLst>
          </p:cNvPr>
          <p:cNvCxnSpPr>
            <a:cxnSpLocks/>
            <a:stCxn id="10" idx="3"/>
            <a:endCxn id="41" idx="1"/>
          </p:cNvCxnSpPr>
          <p:nvPr/>
        </p:nvCxnSpPr>
        <p:spPr>
          <a:xfrm flipV="1">
            <a:off x="3305060" y="1487374"/>
            <a:ext cx="3924655" cy="374317"/>
          </a:xfrm>
          <a:prstGeom prst="bentConnector3">
            <a:avLst>
              <a:gd name="adj1" fmla="val 140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>
            <a:extLst>
              <a:ext uri="{FF2B5EF4-FFF2-40B4-BE49-F238E27FC236}">
                <a16:creationId xmlns:a16="http://schemas.microsoft.com/office/drawing/2014/main" id="{404495E4-9431-9BE8-AF85-C2D8D0BB4748}"/>
              </a:ext>
            </a:extLst>
          </p:cNvPr>
          <p:cNvCxnSpPr>
            <a:cxnSpLocks/>
            <a:stCxn id="10" idx="3"/>
            <a:endCxn id="42" idx="1"/>
          </p:cNvCxnSpPr>
          <p:nvPr/>
        </p:nvCxnSpPr>
        <p:spPr>
          <a:xfrm>
            <a:off x="3305060" y="1861691"/>
            <a:ext cx="3924655" cy="384121"/>
          </a:xfrm>
          <a:prstGeom prst="bentConnector3">
            <a:avLst>
              <a:gd name="adj1" fmla="val 140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winkelte Verbindung 20">
            <a:extLst>
              <a:ext uri="{FF2B5EF4-FFF2-40B4-BE49-F238E27FC236}">
                <a16:creationId xmlns:a16="http://schemas.microsoft.com/office/drawing/2014/main" id="{507E3EA9-433F-2A67-DD1A-5C95E60E1353}"/>
              </a:ext>
            </a:extLst>
          </p:cNvPr>
          <p:cNvCxnSpPr>
            <a:cxnSpLocks/>
            <a:stCxn id="11" idx="3"/>
            <a:endCxn id="43" idx="1"/>
          </p:cNvCxnSpPr>
          <p:nvPr/>
        </p:nvCxnSpPr>
        <p:spPr>
          <a:xfrm>
            <a:off x="3305060" y="2381289"/>
            <a:ext cx="3924655" cy="622961"/>
          </a:xfrm>
          <a:prstGeom prst="bentConnector3">
            <a:avLst>
              <a:gd name="adj1" fmla="val 149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D028874D-1611-D074-48AB-97E5A200D266}"/>
              </a:ext>
            </a:extLst>
          </p:cNvPr>
          <p:cNvSpPr txBox="1"/>
          <p:nvPr/>
        </p:nvSpPr>
        <p:spPr>
          <a:xfrm>
            <a:off x="3958744" y="962956"/>
            <a:ext cx="3326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 dirty="0">
                <a:latin typeface="Aptos" panose="020B0004020202020204" pitchFamily="34" charset="0"/>
              </a:rPr>
              <a:t>meaning = </a:t>
            </a:r>
            <a:r>
              <a:rPr lang="en-GB" sz="1000" dirty="0">
                <a:latin typeface="Aptos" panose="020B0004020202020204" pitchFamily="34" charset="0"/>
                <a:ea typeface="Lucida Sans" panose="020B0602030504020204" pitchFamily="34" charset="77"/>
                <a:cs typeface="Times New Roman" panose="02020603050405020304" pitchFamily="18" charset="0"/>
              </a:rPr>
              <a:t>is related to the same episode</a:t>
            </a:r>
            <a:r>
              <a:rPr lang="en-GB" sz="1000" dirty="0">
                <a:latin typeface="Aptos" panose="020B0004020202020204" pitchFamily="34" charset="0"/>
              </a:rPr>
              <a:t> (LINK-DO)</a:t>
            </a:r>
          </a:p>
          <a:p>
            <a:r>
              <a:rPr lang="en-GB" sz="1000" dirty="0">
                <a:latin typeface="Aptos" panose="020B0004020202020204" pitchFamily="34" charset="0"/>
              </a:rPr>
              <a:t>type = episode-of-care-primary </a:t>
            </a:r>
          </a:p>
          <a:p>
            <a:r>
              <a:rPr lang="en-GB" sz="1000" dirty="0">
                <a:latin typeface="Aptos" panose="020B0004020202020204" pitchFamily="34" charset="0"/>
              </a:rPr>
              <a:t>target = episode of care COMPOSITION</a:t>
            </a:r>
            <a:endParaRPr lang="de-CH" sz="1000" dirty="0">
              <a:latin typeface="Aptos" panose="020B0004020202020204" pitchFamily="34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EDD55979-BE41-1ED8-6DCB-54A921A71C92}"/>
              </a:ext>
            </a:extLst>
          </p:cNvPr>
          <p:cNvSpPr txBox="1"/>
          <p:nvPr/>
        </p:nvSpPr>
        <p:spPr>
          <a:xfrm>
            <a:off x="3958744" y="1717779"/>
            <a:ext cx="3326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 dirty="0">
                <a:latin typeface="Aptos" panose="020B0004020202020204" pitchFamily="34" charset="0"/>
              </a:rPr>
              <a:t>meaning = </a:t>
            </a:r>
            <a:r>
              <a:rPr lang="en-GB" sz="1000" dirty="0">
                <a:latin typeface="Aptos" panose="020B0004020202020204" pitchFamily="34" charset="0"/>
                <a:ea typeface="Lucida Sans" panose="020B0602030504020204" pitchFamily="34" charset="77"/>
                <a:cs typeface="Times New Roman" panose="02020603050405020304" pitchFamily="18" charset="0"/>
              </a:rPr>
              <a:t>is related to the same episode</a:t>
            </a:r>
            <a:r>
              <a:rPr lang="en-GB" sz="1000" dirty="0">
                <a:latin typeface="Aptos" panose="020B0004020202020204" pitchFamily="34" charset="0"/>
              </a:rPr>
              <a:t> (LINK-DO)</a:t>
            </a:r>
          </a:p>
          <a:p>
            <a:r>
              <a:rPr lang="en-GB" sz="1000" dirty="0">
                <a:latin typeface="Aptos" panose="020B0004020202020204" pitchFamily="34" charset="0"/>
              </a:rPr>
              <a:t>type = episode-of-care-associated </a:t>
            </a:r>
          </a:p>
          <a:p>
            <a:r>
              <a:rPr lang="en-GB" sz="1000" dirty="0">
                <a:latin typeface="Aptos" panose="020B0004020202020204" pitchFamily="34" charset="0"/>
              </a:rPr>
              <a:t>target = episode of care COMPOSITION</a:t>
            </a:r>
            <a:endParaRPr lang="de-CH" sz="1000" dirty="0">
              <a:latin typeface="Aptos" panose="020B0004020202020204" pitchFamily="34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6B326DEF-36C4-D50B-098F-7DD4CD1BEF6A}"/>
              </a:ext>
            </a:extLst>
          </p:cNvPr>
          <p:cNvSpPr txBox="1"/>
          <p:nvPr/>
        </p:nvSpPr>
        <p:spPr>
          <a:xfrm>
            <a:off x="3958744" y="2406000"/>
            <a:ext cx="3326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>
                <a:latin typeface="Aptos" panose="020B0004020202020204" pitchFamily="34" charset="0"/>
              </a:rPr>
              <a:t>meaning = </a:t>
            </a:r>
            <a:r>
              <a:rPr lang="en-GB" sz="1000">
                <a:latin typeface="Aptos" panose="020B0004020202020204" pitchFamily="34" charset="0"/>
                <a:ea typeface="Lucida Sans" panose="020B0602030504020204" pitchFamily="34" charset="77"/>
                <a:cs typeface="Times New Roman" panose="02020603050405020304" pitchFamily="18" charset="0"/>
              </a:rPr>
              <a:t>is related to the same episode</a:t>
            </a:r>
            <a:r>
              <a:rPr lang="en-GB" sz="1000">
                <a:latin typeface="Aptos" panose="020B0004020202020204" pitchFamily="34" charset="0"/>
              </a:rPr>
              <a:t> (LINK-DO)</a:t>
            </a:r>
          </a:p>
          <a:p>
            <a:r>
              <a:rPr lang="en-GB" sz="1000">
                <a:latin typeface="Aptos" panose="020B0004020202020204" pitchFamily="34" charset="0"/>
              </a:rPr>
              <a:t>type = episode-of-care-primary </a:t>
            </a:r>
          </a:p>
          <a:p>
            <a:r>
              <a:rPr lang="en-GB" sz="1000">
                <a:latin typeface="Aptos" panose="020B0004020202020204" pitchFamily="34" charset="0"/>
              </a:rPr>
              <a:t>target = episode of care COMPOSITION</a:t>
            </a:r>
            <a:endParaRPr lang="de-CH" sz="1000">
              <a:latin typeface="Aptos" panose="020B0004020202020204" pitchFamily="34" charset="0"/>
            </a:endParaRP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97279778-E479-4958-1108-E195AD5FF43D}"/>
              </a:ext>
            </a:extLst>
          </p:cNvPr>
          <p:cNvSpPr>
            <a:spLocks/>
          </p:cNvSpPr>
          <p:nvPr/>
        </p:nvSpPr>
        <p:spPr>
          <a:xfrm>
            <a:off x="7238894" y="4008925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1</a:t>
            </a: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2E35D400-9E2D-A8E9-F11B-1ECA62953AAB}"/>
              </a:ext>
            </a:extLst>
          </p:cNvPr>
          <p:cNvSpPr>
            <a:spLocks/>
          </p:cNvSpPr>
          <p:nvPr/>
        </p:nvSpPr>
        <p:spPr>
          <a:xfrm>
            <a:off x="7238894" y="4767363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2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3C8A2EF7-816D-7FDF-692C-41CF6B6DB266}"/>
              </a:ext>
            </a:extLst>
          </p:cNvPr>
          <p:cNvSpPr>
            <a:spLocks/>
          </p:cNvSpPr>
          <p:nvPr/>
        </p:nvSpPr>
        <p:spPr>
          <a:xfrm>
            <a:off x="7238894" y="5525801"/>
            <a:ext cx="2389434" cy="461665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of Care 3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934F2D1B-99C1-AD9D-DC3A-A18FC8AA367C}"/>
              </a:ext>
            </a:extLst>
          </p:cNvPr>
          <p:cNvSpPr>
            <a:spLocks/>
          </p:cNvSpPr>
          <p:nvPr/>
        </p:nvSpPr>
        <p:spPr>
          <a:xfrm>
            <a:off x="1009067" y="4008925"/>
            <a:ext cx="2389006" cy="1773100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4934B46-659C-E208-B332-5F96DAE7AC7C}"/>
              </a:ext>
            </a:extLst>
          </p:cNvPr>
          <p:cNvSpPr>
            <a:spLocks/>
          </p:cNvSpPr>
          <p:nvPr/>
        </p:nvSpPr>
        <p:spPr>
          <a:xfrm>
            <a:off x="1081060" y="4431512"/>
            <a:ext cx="2233179" cy="365125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1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8A458925-0392-58D9-3128-757B6E6D24ED}"/>
              </a:ext>
            </a:extLst>
          </p:cNvPr>
          <p:cNvSpPr>
            <a:spLocks/>
          </p:cNvSpPr>
          <p:nvPr/>
        </p:nvSpPr>
        <p:spPr>
          <a:xfrm>
            <a:off x="1081060" y="4951110"/>
            <a:ext cx="2233179" cy="365125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2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3" name="Gewinkelte Verbindung 92">
            <a:extLst>
              <a:ext uri="{FF2B5EF4-FFF2-40B4-BE49-F238E27FC236}">
                <a16:creationId xmlns:a16="http://schemas.microsoft.com/office/drawing/2014/main" id="{A183E599-1BE7-2B26-DC81-553E7B4ECC54}"/>
              </a:ext>
            </a:extLst>
          </p:cNvPr>
          <p:cNvCxnSpPr>
            <a:cxnSpLocks/>
            <a:stCxn id="80" idx="1"/>
            <a:endCxn id="84" idx="3"/>
          </p:cNvCxnSpPr>
          <p:nvPr/>
        </p:nvCxnSpPr>
        <p:spPr>
          <a:xfrm rot="10800000" flipV="1">
            <a:off x="3314240" y="4239757"/>
            <a:ext cx="3924655" cy="374317"/>
          </a:xfrm>
          <a:prstGeom prst="bentConnector3">
            <a:avLst>
              <a:gd name="adj1" fmla="val 10139"/>
            </a:avLst>
          </a:prstGeom>
          <a:ln>
            <a:solidFill>
              <a:srgbClr val="B44C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winkelte Verbindung 93">
            <a:extLst>
              <a:ext uri="{FF2B5EF4-FFF2-40B4-BE49-F238E27FC236}">
                <a16:creationId xmlns:a16="http://schemas.microsoft.com/office/drawing/2014/main" id="{11F4EE99-78BF-877D-304C-1F2829559DBE}"/>
              </a:ext>
            </a:extLst>
          </p:cNvPr>
          <p:cNvCxnSpPr>
            <a:cxnSpLocks/>
            <a:stCxn id="81" idx="1"/>
            <a:endCxn id="84" idx="3"/>
          </p:cNvCxnSpPr>
          <p:nvPr/>
        </p:nvCxnSpPr>
        <p:spPr>
          <a:xfrm rot="10800000">
            <a:off x="3314240" y="4614076"/>
            <a:ext cx="3924655" cy="384121"/>
          </a:xfrm>
          <a:prstGeom prst="bentConnector3">
            <a:avLst>
              <a:gd name="adj1" fmla="val 10139"/>
            </a:avLst>
          </a:prstGeom>
          <a:ln>
            <a:solidFill>
              <a:srgbClr val="B44C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winkelte Verbindung 100">
            <a:extLst>
              <a:ext uri="{FF2B5EF4-FFF2-40B4-BE49-F238E27FC236}">
                <a16:creationId xmlns:a16="http://schemas.microsoft.com/office/drawing/2014/main" id="{8A280062-D9E0-F577-6645-81E74108BA2F}"/>
              </a:ext>
            </a:extLst>
          </p:cNvPr>
          <p:cNvCxnSpPr>
            <a:cxnSpLocks/>
            <a:stCxn id="82" idx="1"/>
            <a:endCxn id="85" idx="3"/>
          </p:cNvCxnSpPr>
          <p:nvPr/>
        </p:nvCxnSpPr>
        <p:spPr>
          <a:xfrm rot="10800000">
            <a:off x="3314240" y="5133674"/>
            <a:ext cx="3924655" cy="622961"/>
          </a:xfrm>
          <a:prstGeom prst="bentConnector3">
            <a:avLst>
              <a:gd name="adj1" fmla="val 9297"/>
            </a:avLst>
          </a:prstGeom>
          <a:ln>
            <a:solidFill>
              <a:srgbClr val="B44C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35C6D24F-5FEA-FDFE-1937-3A8185BA9E49}"/>
              </a:ext>
            </a:extLst>
          </p:cNvPr>
          <p:cNvSpPr txBox="1"/>
          <p:nvPr/>
        </p:nvSpPr>
        <p:spPr>
          <a:xfrm>
            <a:off x="3778027" y="4047844"/>
            <a:ext cx="3326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meaning = </a:t>
            </a:r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  <a:ea typeface="Lucida Sans" panose="020B0602030504020204" pitchFamily="34" charset="77"/>
                <a:cs typeface="Times New Roman" panose="02020603050405020304" pitchFamily="18" charset="0"/>
              </a:rPr>
              <a:t>is related to the same episode</a:t>
            </a:r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 (LINK-DO)</a:t>
            </a:r>
          </a:p>
          <a:p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type = episode-of-care-primary </a:t>
            </a:r>
          </a:p>
          <a:p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target = ENTRY path of COMPOSITION</a:t>
            </a:r>
            <a:endParaRPr lang="de-CH" sz="1000">
              <a:solidFill>
                <a:srgbClr val="B44C74"/>
              </a:solidFill>
              <a:latin typeface="Aptos" panose="020B0004020202020204" pitchFamily="34" charset="0"/>
            </a:endParaRP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930E22DD-C1AC-3F84-BA0B-575F6F7CBC6D}"/>
              </a:ext>
            </a:extLst>
          </p:cNvPr>
          <p:cNvSpPr txBox="1"/>
          <p:nvPr/>
        </p:nvSpPr>
        <p:spPr>
          <a:xfrm>
            <a:off x="3778026" y="4574903"/>
            <a:ext cx="3326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 dirty="0">
                <a:solidFill>
                  <a:srgbClr val="B44C74"/>
                </a:solidFill>
                <a:latin typeface="Aptos" panose="020B0004020202020204" pitchFamily="34" charset="0"/>
              </a:rPr>
              <a:t>meaning = </a:t>
            </a:r>
            <a:r>
              <a:rPr lang="en-GB" sz="1000" dirty="0">
                <a:solidFill>
                  <a:srgbClr val="B44C74"/>
                </a:solidFill>
                <a:latin typeface="Aptos" panose="020B0004020202020204" pitchFamily="34" charset="0"/>
                <a:ea typeface="Lucida Sans" panose="020B0602030504020204" pitchFamily="34" charset="77"/>
                <a:cs typeface="Times New Roman" panose="02020603050405020304" pitchFamily="18" charset="0"/>
              </a:rPr>
              <a:t>is related to the same episode</a:t>
            </a:r>
            <a:r>
              <a:rPr lang="en-GB" sz="1000" dirty="0">
                <a:solidFill>
                  <a:srgbClr val="B44C74"/>
                </a:solidFill>
                <a:latin typeface="Aptos" panose="020B0004020202020204" pitchFamily="34" charset="0"/>
              </a:rPr>
              <a:t> (LINK-DO)</a:t>
            </a:r>
          </a:p>
          <a:p>
            <a:r>
              <a:rPr lang="en-GB" sz="1000" dirty="0">
                <a:solidFill>
                  <a:srgbClr val="B44C74"/>
                </a:solidFill>
                <a:latin typeface="Aptos" panose="020B0004020202020204" pitchFamily="34" charset="0"/>
              </a:rPr>
              <a:t>type = episode-of-care-associated</a:t>
            </a:r>
          </a:p>
          <a:p>
            <a:r>
              <a:rPr lang="en-GB" sz="1000" dirty="0">
                <a:solidFill>
                  <a:srgbClr val="B44C74"/>
                </a:solidFill>
                <a:latin typeface="Aptos" panose="020B0004020202020204" pitchFamily="34" charset="0"/>
              </a:rPr>
              <a:t>target = ENTRY path of COMPOSITION</a:t>
            </a:r>
            <a:endParaRPr lang="de-CH" sz="1000" dirty="0">
              <a:solidFill>
                <a:srgbClr val="B44C74"/>
              </a:solidFill>
              <a:latin typeface="Aptos" panose="020B0004020202020204" pitchFamily="34" charset="0"/>
            </a:endParaRP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99D422FB-C701-2747-CEAF-DE986E7896F4}"/>
              </a:ext>
            </a:extLst>
          </p:cNvPr>
          <p:cNvSpPr txBox="1"/>
          <p:nvPr/>
        </p:nvSpPr>
        <p:spPr>
          <a:xfrm>
            <a:off x="3778026" y="5168156"/>
            <a:ext cx="3326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meaning = </a:t>
            </a:r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  <a:ea typeface="Lucida Sans" panose="020B0602030504020204" pitchFamily="34" charset="77"/>
                <a:cs typeface="Times New Roman" panose="02020603050405020304" pitchFamily="18" charset="0"/>
              </a:rPr>
              <a:t>is related to the same episode</a:t>
            </a:r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 (LINK-DO)</a:t>
            </a:r>
          </a:p>
          <a:p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type = episode-of-care-primary </a:t>
            </a:r>
          </a:p>
          <a:p>
            <a:r>
              <a:rPr lang="en-GB" sz="1000">
                <a:solidFill>
                  <a:srgbClr val="B44C74"/>
                </a:solidFill>
                <a:latin typeface="Aptos" panose="020B0004020202020204" pitchFamily="34" charset="0"/>
              </a:rPr>
              <a:t>target = ENTRY path of COMPOSITION</a:t>
            </a:r>
            <a:endParaRPr lang="de-CH" sz="1000">
              <a:solidFill>
                <a:srgbClr val="B44C74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754F411-63F0-A439-398A-72484D3FCDA9}"/>
              </a:ext>
            </a:extLst>
          </p:cNvPr>
          <p:cNvSpPr/>
          <p:nvPr/>
        </p:nvSpPr>
        <p:spPr>
          <a:xfrm>
            <a:off x="0" y="3966072"/>
            <a:ext cx="683046" cy="2891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124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FFC7-48D5-FA45-7A36-BFEE8E60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A6CD101-259F-301D-B5C2-BDBAB19367AE}"/>
              </a:ext>
            </a:extLst>
          </p:cNvPr>
          <p:cNvSpPr>
            <a:spLocks/>
          </p:cNvSpPr>
          <p:nvPr/>
        </p:nvSpPr>
        <p:spPr>
          <a:xfrm>
            <a:off x="5091877" y="1111623"/>
            <a:ext cx="2389006" cy="4001020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Clinical COMPOSITION 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C5465E0-9E9B-E4D0-6B9E-FD390B417B4A}"/>
              </a:ext>
            </a:extLst>
          </p:cNvPr>
          <p:cNvSpPr>
            <a:spLocks/>
          </p:cNvSpPr>
          <p:nvPr/>
        </p:nvSpPr>
        <p:spPr>
          <a:xfrm>
            <a:off x="5193188" y="1534211"/>
            <a:ext cx="2141219" cy="1503629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1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2A0D8FD-70C9-CA11-79E1-CC3DF141FB29}"/>
              </a:ext>
            </a:extLst>
          </p:cNvPr>
          <p:cNvSpPr>
            <a:spLocks/>
          </p:cNvSpPr>
          <p:nvPr/>
        </p:nvSpPr>
        <p:spPr>
          <a:xfrm>
            <a:off x="5300468" y="1849644"/>
            <a:ext cx="1926658" cy="987020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>
              <a:defRPr/>
            </a:pPr>
            <a:r>
              <a:rPr lang="en-GB" sz="800">
                <a:solidFill>
                  <a:srgbClr val="215F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CLUSTER.eoc_relationships_entry.v0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A19944D-8F9B-2495-BCEE-9AADEE56D16C}"/>
              </a:ext>
            </a:extLst>
          </p:cNvPr>
          <p:cNvSpPr>
            <a:spLocks/>
          </p:cNvSpPr>
          <p:nvPr/>
        </p:nvSpPr>
        <p:spPr>
          <a:xfrm>
            <a:off x="8933386" y="877943"/>
            <a:ext cx="2389434" cy="2308324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0B3ABA4-4606-A6CC-EE3C-9D7207F424E4}"/>
              </a:ext>
            </a:extLst>
          </p:cNvPr>
          <p:cNvSpPr>
            <a:spLocks/>
          </p:cNvSpPr>
          <p:nvPr/>
        </p:nvSpPr>
        <p:spPr>
          <a:xfrm>
            <a:off x="9143956" y="1407328"/>
            <a:ext cx="1968293" cy="1569660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CLUSTER.eoc_relationships_episode_of_care.v0</a:t>
            </a: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0B0224C-6EF0-6C64-BA9D-BEEE442AB9FC}"/>
              </a:ext>
            </a:extLst>
          </p:cNvPr>
          <p:cNvSpPr>
            <a:spLocks/>
          </p:cNvSpPr>
          <p:nvPr/>
        </p:nvSpPr>
        <p:spPr>
          <a:xfrm>
            <a:off x="1250368" y="928743"/>
            <a:ext cx="2389006" cy="1997337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0" noProof="1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Encounter</a:t>
            </a: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5D46D5D-5402-00A8-00BB-C3F3070E7E55}"/>
              </a:ext>
            </a:extLst>
          </p:cNvPr>
          <p:cNvSpPr>
            <a:spLocks/>
          </p:cNvSpPr>
          <p:nvPr/>
        </p:nvSpPr>
        <p:spPr>
          <a:xfrm>
            <a:off x="1460724" y="1518791"/>
            <a:ext cx="1968293" cy="1074033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CLUSTER.eoc_relationships_care_encounter.v0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9FD8F4B-3631-7073-3604-EC0F718BB015}"/>
              </a:ext>
            </a:extLst>
          </p:cNvPr>
          <p:cNvSpPr>
            <a:spLocks/>
          </p:cNvSpPr>
          <p:nvPr/>
        </p:nvSpPr>
        <p:spPr>
          <a:xfrm>
            <a:off x="1597004" y="1902184"/>
            <a:ext cx="1692000" cy="252000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lIns="36000" rIns="36000" rtlCol="0" anchor="t" anchorCtr="0">
            <a:no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GB" sz="800" kern="0" noProof="1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en-GB" sz="800" kern="0" cap="all" noProof="1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composition</a:t>
            </a:r>
            <a:r>
              <a:rPr lang="en-GB" sz="800" kern="0" noProof="1">
                <a:solidFill>
                  <a:srgbClr val="008C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references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33BD9AA-E1BE-ADB2-69F1-3CC824655644}"/>
              </a:ext>
            </a:extLst>
          </p:cNvPr>
          <p:cNvSpPr>
            <a:spLocks/>
          </p:cNvSpPr>
          <p:nvPr/>
        </p:nvSpPr>
        <p:spPr>
          <a:xfrm>
            <a:off x="1597004" y="2247650"/>
            <a:ext cx="1692000" cy="252000"/>
          </a:xfrm>
          <a:prstGeom prst="rect">
            <a:avLst/>
          </a:prstGeom>
          <a:solidFill>
            <a:srgbClr val="E6F4F1">
              <a:alpha val="49804"/>
            </a:srgbClr>
          </a:solidFill>
          <a:ln w="6350" cap="flat" cmpd="sng" algn="ctr">
            <a:solidFill>
              <a:srgbClr val="008C93"/>
            </a:solidFill>
            <a:prstDash val="solid"/>
            <a:miter lim="800000"/>
          </a:ln>
          <a:effectLst/>
        </p:spPr>
        <p:txBody>
          <a:bodyPr wrap="square" lIns="36000" rIns="36000" rtlCol="0" anchor="t" anchorCtr="0">
            <a:no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008C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Administrative Encounter reference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2B0B08B-F8B8-6A42-9A4A-4ADDAAF8F64C}"/>
              </a:ext>
            </a:extLst>
          </p:cNvPr>
          <p:cNvSpPr>
            <a:spLocks/>
          </p:cNvSpPr>
          <p:nvPr/>
        </p:nvSpPr>
        <p:spPr>
          <a:xfrm>
            <a:off x="5372412" y="2134824"/>
            <a:ext cx="1800000" cy="252000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>
              <a:defRPr/>
            </a:pPr>
            <a:r>
              <a:rPr lang="en-GB" sz="800" dirty="0">
                <a:solidFill>
                  <a:srgbClr val="215F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Encounter reference</a:t>
            </a: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D94B386-EE56-CB55-A034-F1553E1A40BB}"/>
              </a:ext>
            </a:extLst>
          </p:cNvPr>
          <p:cNvSpPr>
            <a:spLocks/>
          </p:cNvSpPr>
          <p:nvPr/>
        </p:nvSpPr>
        <p:spPr>
          <a:xfrm>
            <a:off x="5372412" y="2460628"/>
            <a:ext cx="1800000" cy="252000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lIns="36000" rIns="36000" rtlCol="0" anchor="t" anchorCtr="0">
            <a:noAutofit/>
          </a:bodyPr>
          <a:lstStyle/>
          <a:p>
            <a:pPr>
              <a:defRPr/>
            </a:pPr>
            <a:r>
              <a:rPr lang="en-GB" sz="800" dirty="0">
                <a:solidFill>
                  <a:srgbClr val="215F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reference (Link 1:1, Role 1:1)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A945220-4328-E973-D67C-4280177F64EB}"/>
              </a:ext>
            </a:extLst>
          </p:cNvPr>
          <p:cNvSpPr>
            <a:spLocks/>
          </p:cNvSpPr>
          <p:nvPr/>
        </p:nvSpPr>
        <p:spPr>
          <a:xfrm>
            <a:off x="5193188" y="3312729"/>
            <a:ext cx="2141219" cy="1503629"/>
          </a:xfrm>
          <a:prstGeom prst="rect">
            <a:avLst/>
          </a:prstGeom>
          <a:solidFill>
            <a:srgbClr val="0E2841">
              <a:lumMod val="10000"/>
              <a:lumOff val="90000"/>
              <a:alpha val="49804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ENTRY 2</a:t>
            </a:r>
            <a:endParaRPr kumimoji="0" lang="en-GB" sz="1000" b="0" i="0" u="none" strike="noStrike" kern="0" cap="none" spc="0" normalizeH="0" baseline="0" noProof="1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6331C5D-3EE9-7717-5CC7-BC7F4AE5385C}"/>
              </a:ext>
            </a:extLst>
          </p:cNvPr>
          <p:cNvSpPr>
            <a:spLocks/>
          </p:cNvSpPr>
          <p:nvPr/>
        </p:nvSpPr>
        <p:spPr>
          <a:xfrm>
            <a:off x="5300468" y="3628162"/>
            <a:ext cx="1926658" cy="987020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>
              <a:defRPr/>
            </a:pPr>
            <a:r>
              <a:rPr lang="en-GB" sz="800">
                <a:solidFill>
                  <a:srgbClr val="215F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CLUSTER.eoc_relationships_entry.v0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008C9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F01C220-FBBC-8AC6-6DEE-1FD7D2E52F98}"/>
              </a:ext>
            </a:extLst>
          </p:cNvPr>
          <p:cNvSpPr>
            <a:spLocks/>
          </p:cNvSpPr>
          <p:nvPr/>
        </p:nvSpPr>
        <p:spPr>
          <a:xfrm>
            <a:off x="5372412" y="3913342"/>
            <a:ext cx="1800000" cy="252000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>
              <a:defRPr/>
            </a:pPr>
            <a:r>
              <a:rPr lang="en-GB" sz="800" dirty="0">
                <a:solidFill>
                  <a:srgbClr val="215F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Encounter reference</a:t>
            </a:r>
            <a:endParaRPr lang="en-GB" sz="800" kern="0" noProof="1">
              <a:solidFill>
                <a:srgbClr val="008C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5F03E9F-D2DF-D84B-E324-3EF31788B6FB}"/>
              </a:ext>
            </a:extLst>
          </p:cNvPr>
          <p:cNvSpPr>
            <a:spLocks/>
          </p:cNvSpPr>
          <p:nvPr/>
        </p:nvSpPr>
        <p:spPr>
          <a:xfrm>
            <a:off x="5372412" y="4239146"/>
            <a:ext cx="1800000" cy="252000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6350" cap="flat" cmpd="sng" algn="ctr">
            <a:solidFill>
              <a:srgbClr val="156082">
                <a:lumMod val="75000"/>
              </a:srgbClr>
            </a:solidFill>
            <a:prstDash val="solid"/>
            <a:miter lim="800000"/>
          </a:ln>
          <a:effectLst/>
        </p:spPr>
        <p:txBody>
          <a:bodyPr wrap="square" lIns="36000" rIns="36000" rtlCol="0" anchor="t" anchorCtr="0">
            <a:noAutofit/>
          </a:bodyPr>
          <a:lstStyle/>
          <a:p>
            <a:pPr>
              <a:defRPr/>
            </a:pPr>
            <a:r>
              <a:rPr lang="en-GB" sz="800" dirty="0">
                <a:solidFill>
                  <a:srgbClr val="215F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Episode reference (Link 1:1, Role 1:1)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7466E9D-8334-47F7-29B0-755F1970916F}"/>
              </a:ext>
            </a:extLst>
          </p:cNvPr>
          <p:cNvSpPr>
            <a:spLocks/>
          </p:cNvSpPr>
          <p:nvPr/>
        </p:nvSpPr>
        <p:spPr>
          <a:xfrm>
            <a:off x="9334036" y="2177510"/>
            <a:ext cx="1607596" cy="215444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lvl="0">
              <a:defRPr/>
            </a:pPr>
            <a:r>
              <a:rPr lang="en-GB" sz="8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ENTRY references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87DEA48-A02E-EC9B-4574-8A7BF90692A8}"/>
              </a:ext>
            </a:extLst>
          </p:cNvPr>
          <p:cNvSpPr>
            <a:spLocks/>
          </p:cNvSpPr>
          <p:nvPr/>
        </p:nvSpPr>
        <p:spPr>
          <a:xfrm>
            <a:off x="9334036" y="2478957"/>
            <a:ext cx="1607596" cy="215444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lvl="0">
              <a:defRPr/>
            </a:pPr>
            <a:r>
              <a:rPr lang="en-GB" sz="8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 Episode references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7B64A22-77F4-B096-264B-A9666D01CC9B}"/>
              </a:ext>
            </a:extLst>
          </p:cNvPr>
          <p:cNvSpPr>
            <a:spLocks/>
          </p:cNvSpPr>
          <p:nvPr/>
        </p:nvSpPr>
        <p:spPr>
          <a:xfrm>
            <a:off x="8933386" y="3413653"/>
            <a:ext cx="2389434" cy="2308324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COMPOSITION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of Care 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41D8197-9081-3956-947F-ADC4C363164C}"/>
              </a:ext>
            </a:extLst>
          </p:cNvPr>
          <p:cNvSpPr>
            <a:spLocks/>
          </p:cNvSpPr>
          <p:nvPr/>
        </p:nvSpPr>
        <p:spPr>
          <a:xfrm>
            <a:off x="9143956" y="3943038"/>
            <a:ext cx="1968293" cy="1569660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1">
                <a:ln>
                  <a:noFill/>
                </a:ln>
                <a:solidFill>
                  <a:srgbClr val="B44C7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CLUSTER.eoc_relationships_episode_of_care.v0</a:t>
            </a: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noProof="1">
              <a:solidFill>
                <a:srgbClr val="B44C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rgbClr val="B44C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7287E96-2798-F696-6901-78BF98325788}"/>
              </a:ext>
            </a:extLst>
          </p:cNvPr>
          <p:cNvSpPr>
            <a:spLocks/>
          </p:cNvSpPr>
          <p:nvPr/>
        </p:nvSpPr>
        <p:spPr>
          <a:xfrm>
            <a:off x="9334036" y="4645487"/>
            <a:ext cx="1607596" cy="215444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lvl="0">
              <a:defRPr/>
            </a:pPr>
            <a:r>
              <a:rPr lang="en-GB" sz="8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ENTRY references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D22CF7D-19C7-770D-CFA4-90C8D0577CE8}"/>
              </a:ext>
            </a:extLst>
          </p:cNvPr>
          <p:cNvSpPr>
            <a:spLocks/>
          </p:cNvSpPr>
          <p:nvPr/>
        </p:nvSpPr>
        <p:spPr>
          <a:xfrm>
            <a:off x="9334036" y="4946934"/>
            <a:ext cx="1607596" cy="215444"/>
          </a:xfrm>
          <a:prstGeom prst="rect">
            <a:avLst/>
          </a:prstGeom>
          <a:solidFill>
            <a:srgbClr val="B44C74">
              <a:alpha val="25000"/>
            </a:srgbClr>
          </a:solidFill>
          <a:ln w="6350" cap="flat" cmpd="sng" algn="ctr">
            <a:solidFill>
              <a:srgbClr val="B44C74"/>
            </a:solidFill>
            <a:prstDash val="solid"/>
            <a:miter lim="800000"/>
          </a:ln>
          <a:effectLst/>
        </p:spPr>
        <p:txBody>
          <a:bodyPr wrap="square" rtlCol="0" anchor="t" anchorCtr="0">
            <a:spAutoFit/>
          </a:bodyPr>
          <a:lstStyle/>
          <a:p>
            <a:pPr lvl="0">
              <a:defRPr/>
            </a:pPr>
            <a:r>
              <a:rPr lang="en-GB" sz="800" kern="0" noProof="1">
                <a:solidFill>
                  <a:srgbClr val="B44C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 Episode references</a:t>
            </a:r>
          </a:p>
        </p:txBody>
      </p:sp>
      <p:cxnSp>
        <p:nvCxnSpPr>
          <p:cNvPr id="37" name="Gewinkelte Verbindung 36">
            <a:extLst>
              <a:ext uri="{FF2B5EF4-FFF2-40B4-BE49-F238E27FC236}">
                <a16:creationId xmlns:a16="http://schemas.microsoft.com/office/drawing/2014/main" id="{0B125B0D-F8FD-2795-6C59-27991E62AAAE}"/>
              </a:ext>
            </a:extLst>
          </p:cNvPr>
          <p:cNvCxnSpPr>
            <a:cxnSpLocks/>
            <a:stCxn id="34" idx="3"/>
            <a:endCxn id="14" idx="3"/>
          </p:cNvCxnSpPr>
          <p:nvPr/>
        </p:nvCxnSpPr>
        <p:spPr>
          <a:xfrm flipV="1">
            <a:off x="10941632" y="2032105"/>
            <a:ext cx="381188" cy="3022551"/>
          </a:xfrm>
          <a:prstGeom prst="bentConnector3">
            <a:avLst>
              <a:gd name="adj1" fmla="val 159970"/>
            </a:avLst>
          </a:prstGeom>
          <a:ln>
            <a:solidFill>
              <a:srgbClr val="B44B74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Gewinkelte Verbindung 48">
            <a:extLst>
              <a:ext uri="{FF2B5EF4-FFF2-40B4-BE49-F238E27FC236}">
                <a16:creationId xmlns:a16="http://schemas.microsoft.com/office/drawing/2014/main" id="{259A5F53-D85D-78D2-612B-26F4DFC338F3}"/>
              </a:ext>
            </a:extLst>
          </p:cNvPr>
          <p:cNvCxnSpPr>
            <a:cxnSpLocks/>
            <a:stCxn id="27" idx="1"/>
            <a:endCxn id="5" idx="3"/>
          </p:cNvCxnSpPr>
          <p:nvPr/>
        </p:nvCxnSpPr>
        <p:spPr>
          <a:xfrm rot="10800000" flipV="1">
            <a:off x="7334408" y="2285232"/>
            <a:ext cx="1999629" cy="794"/>
          </a:xfrm>
          <a:prstGeom prst="bentConnector3">
            <a:avLst>
              <a:gd name="adj1" fmla="val 50000"/>
            </a:avLst>
          </a:prstGeom>
          <a:ln>
            <a:solidFill>
              <a:srgbClr val="B44B74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Gewinkelte Verbindung 51">
            <a:extLst>
              <a:ext uri="{FF2B5EF4-FFF2-40B4-BE49-F238E27FC236}">
                <a16:creationId xmlns:a16="http://schemas.microsoft.com/office/drawing/2014/main" id="{8114B3F5-DCFC-8B24-7364-F4BC336D52CC}"/>
              </a:ext>
            </a:extLst>
          </p:cNvPr>
          <p:cNvCxnSpPr>
            <a:cxnSpLocks/>
            <a:stCxn id="27" idx="1"/>
            <a:endCxn id="23" idx="3"/>
          </p:cNvCxnSpPr>
          <p:nvPr/>
        </p:nvCxnSpPr>
        <p:spPr>
          <a:xfrm rot="10800000" flipV="1">
            <a:off x="7334408" y="2285232"/>
            <a:ext cx="1999629" cy="1779312"/>
          </a:xfrm>
          <a:prstGeom prst="bentConnector3">
            <a:avLst>
              <a:gd name="adj1" fmla="val 50000"/>
            </a:avLst>
          </a:prstGeom>
          <a:ln>
            <a:solidFill>
              <a:srgbClr val="B44B74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Gewinkelte Verbindung 66">
            <a:extLst>
              <a:ext uri="{FF2B5EF4-FFF2-40B4-BE49-F238E27FC236}">
                <a16:creationId xmlns:a16="http://schemas.microsoft.com/office/drawing/2014/main" id="{EDD3C624-72F7-DDB9-B800-25BE54C6D870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 flipV="1">
            <a:off x="7172412" y="2032105"/>
            <a:ext cx="1760974" cy="554523"/>
          </a:xfrm>
          <a:prstGeom prst="bentConnector3">
            <a:avLst>
              <a:gd name="adj1" fmla="val 50000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Gewinkelte Verbindung 74">
            <a:extLst>
              <a:ext uri="{FF2B5EF4-FFF2-40B4-BE49-F238E27FC236}">
                <a16:creationId xmlns:a16="http://schemas.microsoft.com/office/drawing/2014/main" id="{4781C58D-A45B-4F2C-2F14-207C33057A91}"/>
              </a:ext>
            </a:extLst>
          </p:cNvPr>
          <p:cNvCxnSpPr>
            <a:cxnSpLocks/>
            <a:stCxn id="25" idx="1"/>
            <a:endCxn id="16" idx="3"/>
          </p:cNvCxnSpPr>
          <p:nvPr/>
        </p:nvCxnSpPr>
        <p:spPr>
          <a:xfrm rot="10800000">
            <a:off x="3639374" y="1927412"/>
            <a:ext cx="1733038" cy="2111930"/>
          </a:xfrm>
          <a:prstGeom prst="bentConnector3">
            <a:avLst>
              <a:gd name="adj1" fmla="val 50000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Gewinkelte Verbindung 77">
            <a:extLst>
              <a:ext uri="{FF2B5EF4-FFF2-40B4-BE49-F238E27FC236}">
                <a16:creationId xmlns:a16="http://schemas.microsoft.com/office/drawing/2014/main" id="{E28080C3-EDEC-47A7-7ACB-02593A419056}"/>
              </a:ext>
            </a:extLst>
          </p:cNvPr>
          <p:cNvCxnSpPr>
            <a:cxnSpLocks/>
            <a:stCxn id="21" idx="1"/>
            <a:endCxn id="16" idx="3"/>
          </p:cNvCxnSpPr>
          <p:nvPr/>
        </p:nvCxnSpPr>
        <p:spPr>
          <a:xfrm rot="10800000">
            <a:off x="3639374" y="1927412"/>
            <a:ext cx="1733038" cy="333412"/>
          </a:xfrm>
          <a:prstGeom prst="bentConnector3">
            <a:avLst>
              <a:gd name="adj1" fmla="val 50000"/>
            </a:avLst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Gewinkelte Verbindung 91">
            <a:extLst>
              <a:ext uri="{FF2B5EF4-FFF2-40B4-BE49-F238E27FC236}">
                <a16:creationId xmlns:a16="http://schemas.microsoft.com/office/drawing/2014/main" id="{DB8A4DCF-C00D-4EBA-FB29-3DD498B69B46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>
            <a:off x="3289004" y="2028184"/>
            <a:ext cx="1802873" cy="1083949"/>
          </a:xfrm>
          <a:prstGeom prst="bentConnector3">
            <a:avLst>
              <a:gd name="adj1" fmla="val 50000"/>
            </a:avLst>
          </a:prstGeom>
          <a:ln>
            <a:solidFill>
              <a:srgbClr val="008C93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1" name="Textfeld 110">
            <a:extLst>
              <a:ext uri="{FF2B5EF4-FFF2-40B4-BE49-F238E27FC236}">
                <a16:creationId xmlns:a16="http://schemas.microsoft.com/office/drawing/2014/main" id="{2A254AB3-D7BA-7EC2-5DA1-C8CB00B2F050}"/>
              </a:ext>
            </a:extLst>
          </p:cNvPr>
          <p:cNvSpPr txBox="1"/>
          <p:nvPr/>
        </p:nvSpPr>
        <p:spPr>
          <a:xfrm>
            <a:off x="3685587" y="2001429"/>
            <a:ext cx="5523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8C93"/>
                </a:solidFill>
                <a:latin typeface="Aptos" panose="02110004020202020204"/>
              </a:defRPr>
            </a:lvl1pPr>
          </a:lstStyle>
          <a:p>
            <a:r>
              <a:rPr lang="en-GB" sz="1000"/>
              <a:t>0..*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BC294AB2-174E-9BD9-5962-0E1CD1B3B185}"/>
              </a:ext>
            </a:extLst>
          </p:cNvPr>
          <p:cNvSpPr txBox="1"/>
          <p:nvPr/>
        </p:nvSpPr>
        <p:spPr>
          <a:xfrm>
            <a:off x="4776213" y="2031073"/>
            <a:ext cx="601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/>
              <a:t>1..1</a:t>
            </a: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5BB0607B-0E84-3AE0-371E-0074B794C2E7}"/>
              </a:ext>
            </a:extLst>
          </p:cNvPr>
          <p:cNvSpPr txBox="1"/>
          <p:nvPr/>
        </p:nvSpPr>
        <p:spPr>
          <a:xfrm>
            <a:off x="4755063" y="3787278"/>
            <a:ext cx="601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/>
              <a:t>1..1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D09233E8-1692-392E-7221-46DFF4ABF085}"/>
              </a:ext>
            </a:extLst>
          </p:cNvPr>
          <p:cNvSpPr txBox="1"/>
          <p:nvPr/>
        </p:nvSpPr>
        <p:spPr>
          <a:xfrm>
            <a:off x="7480883" y="4342372"/>
            <a:ext cx="601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 dirty="0"/>
              <a:t>1..*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6FB3B3E9-3EE1-079F-65AD-E32196122AE7}"/>
              </a:ext>
            </a:extLst>
          </p:cNvPr>
          <p:cNvSpPr txBox="1"/>
          <p:nvPr/>
        </p:nvSpPr>
        <p:spPr>
          <a:xfrm>
            <a:off x="7455170" y="2358625"/>
            <a:ext cx="601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/>
              <a:t>1..*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A05D4EED-7CE0-3155-4AAB-A4DFA010503B}"/>
              </a:ext>
            </a:extLst>
          </p:cNvPr>
          <p:cNvSpPr txBox="1"/>
          <p:nvPr/>
        </p:nvSpPr>
        <p:spPr>
          <a:xfrm>
            <a:off x="8571165" y="2303769"/>
            <a:ext cx="4314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rgbClr val="0070C0"/>
                </a:solidFill>
                <a:latin typeface="Aptos" panose="02110004020202020204"/>
              </a:defRPr>
            </a:lvl1pPr>
          </a:lstStyle>
          <a:p>
            <a:r>
              <a:rPr lang="en-GB" sz="1000" dirty="0">
                <a:solidFill>
                  <a:srgbClr val="B44C74"/>
                </a:solidFill>
                <a:latin typeface="Aptos" panose="020B0004020202020204" pitchFamily="34" charset="0"/>
              </a:rPr>
              <a:t>0..*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4235CDE6-8FC0-DD3F-C73B-A6C502F75EC4}"/>
              </a:ext>
            </a:extLst>
          </p:cNvPr>
          <p:cNvSpPr txBox="1"/>
          <p:nvPr/>
        </p:nvSpPr>
        <p:spPr>
          <a:xfrm>
            <a:off x="1199526" y="307409"/>
            <a:ext cx="2075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1">
                <a:solidFill>
                  <a:prstClr val="black"/>
                </a:solidFill>
                <a:latin typeface="Aptos" panose="02110004020202020204"/>
              </a:rPr>
              <a:t>Care Encounter (Contact)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1CBDCBEA-886C-993F-DCD7-DBE2888BED1A}"/>
              </a:ext>
            </a:extLst>
          </p:cNvPr>
          <p:cNvSpPr txBox="1"/>
          <p:nvPr/>
        </p:nvSpPr>
        <p:spPr>
          <a:xfrm>
            <a:off x="5059565" y="307409"/>
            <a:ext cx="2245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1">
                <a:solidFill>
                  <a:prstClr val="black"/>
                </a:solidFill>
                <a:latin typeface="Aptos" panose="02110004020202020204"/>
              </a:rPr>
              <a:t>Clinical Information</a:t>
            </a: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7DEABCCD-793D-A563-038E-F79469738066}"/>
              </a:ext>
            </a:extLst>
          </p:cNvPr>
          <p:cNvSpPr txBox="1"/>
          <p:nvPr/>
        </p:nvSpPr>
        <p:spPr>
          <a:xfrm>
            <a:off x="8818086" y="301208"/>
            <a:ext cx="2639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1">
                <a:solidFill>
                  <a:prstClr val="black"/>
                </a:solidFill>
                <a:latin typeface="Aptos" panose="02110004020202020204"/>
              </a:rPr>
              <a:t>Episode of Care (Health Problem)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5986DC5-DFEA-F0C7-E00C-09CA83C5A2A7}"/>
              </a:ext>
            </a:extLst>
          </p:cNvPr>
          <p:cNvSpPr/>
          <p:nvPr/>
        </p:nvSpPr>
        <p:spPr>
          <a:xfrm>
            <a:off x="0" y="3966072"/>
            <a:ext cx="683046" cy="2891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9850053-2884-7925-7CB7-186EA6F8B65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172412" y="4365146"/>
            <a:ext cx="1650804" cy="0"/>
          </a:xfrm>
          <a:prstGeom prst="straightConnector1">
            <a:avLst/>
          </a:prstGeom>
          <a:ln>
            <a:solidFill>
              <a:srgbClr val="215F9B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79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Macintosh PowerPoint</Application>
  <PresentationFormat>Breitbild</PresentationFormat>
  <Paragraphs>246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Arial</vt:lpstr>
      <vt:lpstr>Symbol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>JPM Consulting GmbH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>Folienmaster</dc:subject>
  <dc:creator>Jean-Pierre Messerli</dc:creator>
  <cp:keywords>, docId:B6B4ABE5668F3B260E2B2D86E6307D63</cp:keywords>
  <dc:description/>
  <cp:lastModifiedBy>Jean-Pierre Messerli</cp:lastModifiedBy>
  <cp:revision>308</cp:revision>
  <cp:lastPrinted>2026-10-07T11:09:26Z</cp:lastPrinted>
  <dcterms:created xsi:type="dcterms:W3CDTF">2023-09-13T06:24:52Z</dcterms:created>
  <dcterms:modified xsi:type="dcterms:W3CDTF">2026-10-08T09:37:21Z</dcterms:modified>
  <cp:category/>
</cp:coreProperties>
</file>